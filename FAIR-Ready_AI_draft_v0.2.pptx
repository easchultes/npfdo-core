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0:20. Title only. One sentence of framing: this talk is about making what AI takes in, and what it puts out, identifiable, attributable and checkable, and about a first free tool that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to 2:20. Most AI inputs are collected from sources with no stable identity, no recorded provenance and unclear reuse conditions. The outputs are no better: text, code, images and analyses that carry no identifier, no statement of who or what produced them, no licence and nothing that fixes the bytes. These outputs flow back into the corpus that trains the next models. Two external anchors: recursive training on generated data degrades models (Shumailov et al., Nature 2024), and the EU AI Act, Article 50(2), requires machine-readable marking of AI-generated content. Neither problem is solved by better models alone; both are solved, in part, by better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to 4:00. The inversion. Instead of AI ingesting anonymous data and emitting anonymous content, a FAIR AI system takes FAIR Digital Objects as its only inputs and produces FAIR Digital Objects as all of its outputs. Input side: AI-Ready data. Output side: FAIR-Ready AI, the subject of this talk. An FDO is simply a persistent identifier that resolves to a machine-readable record of what the object is, who made it, under which licence, and exactly which bytes it is. The long-term goal is that minting an FDO becomes as routine as saving a file. That is a goal, argued for,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to 5:40. What a record adds, in one chain. The identifier is a Trusty URI: it is computed from the record's content, so any change to the record is detectable. The record is a signed nanopublication carrying type, label and attribution, and for each file its licence, location and SHA-256 checksum. The bytes can sit anywhere; the checksum fixes exactly which bytes the record describes. Live example: the np-FDO core specification itself. A machine can verify that the bytes it received are the bytes the record describes. It still has to decide whether to trust the signer; the record makes that decision explicit rather than implicit.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to 7:40. Where this sits: the FAIR Hourglass. At the top, objects are made by any means: people, instruments, and now AI agents. At the bottom, objects are used: by agents, pipelines, registries and search. Freedom to operate is maximal at both ends and constrained only at the waist, which must therefore be minimal. The np-FDO core v0.1 is that waist: six unconditional constraints (type, label, attribution, a marker that this is an np-FDO record, the identity link to the referent, and the specification version it conforms to), plus conditions of use for each materialisation. No new predicates; three classes minted; one generic template in which the object type is a controlled value. AI appears twice, making objects at the top and using them at the bottom, and both pass through the same waist. What does not exist yet: validation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 to 9:30. Which objects become FDOs? The type is a controlled value, and types fall into three kinds by the kind of statement the object makes. Epistemic objects state what is the case: they can be false and are tested against evidence. Deontic objects permit, oblige or prohibit: they cannot be false, but they can be invalid, and they are tested against the authority and procedure behind them. Agentic objects describe or perform acts: they are tested by execution. Consequence one: resolving the type already tells an agent which kind of statement it is handling, at no cost of an extra field. Consequence two: the record itself stays in one register. It states facts about the referent and reaches permissions and procedures only by reference to typed objects (design decision D20 of the specification). Caveat: some objects straddle kinds (a trained model is both an artefact and an executable); the designation is a proposal for the type catalogue, not part of core v0.1.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to 11:00. Evidence already on the public nanopublication network. Eight records published on 27 September: the specification record, the generic assertion template and the publication-information template, an example record, three vocabulary terms, and the record for this symposium. Every record was checked before and after publication. Two errors, a misplaced registration folder and a malformed graph prefix, were caught before publication by checks run outside the agent. The specification conforms to itself, and its vocabulary sits inside the layer it defines. Human-controlled publication is necessary, not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to 13:30. The acceptance test for the minting skill, npfdo-mint v0.1.0. A fresh agent session (a local coding agent, no build context) had the skill, its declared dependency, the network and a task prompt. It started from an FDO: it resolved the specification record, downloaded the specification and verified its SHA-256 before using it. It drafted, checked and signed records with the local key, and stopped at a signed, verified file; publication was a separate, human-run, gated step. Result: four live records, signed with the corpus key. Three term records were superseded: same key, same term IRIs, definitions unchanged triple by triple, and the network reports the old versions as invalidated, so a consumer can exclude them with one query. The fourth is the skill's own record, bound to its release bytes by checksum. Five interventions, all procedural or clarifying, none adding domain knowledge; no published record needed correction. The honest summary: skill plus prompt worked; skill alone is not yet shown. The gap is specific and fixable: the list of type-specific fields lives in the prompt, not in the skill. The stop-on-unexpected-findings rule fired twice, as designed. Nine findings in total: one major (the slot list), four moderate, four minor.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to 15:30. FAIR AI Attribution, FAIA, is a vocabulary for declaring AI involvement in machine-readable form: a flag, an activity code, and the AI system with its version. It is relevant to the machine-readable marking of AI-generated content called for by the EU AI Act, Article 50(2). An np-FDO record has three graphs, and each graph is about a different thing, so each can carry its own FAIA statement. The assertion says how the thing itself was made; the provenance says how its description was produced; the publication information says how the container was made. One record thus separates the AI's role in the work from its role in the metadata. The four records from the acceptance test carry all three. The values are the author's declarations, not machine-derived. The provenance and publication-information statements were verified by reading; the conformance checker covers the assertion graph only. The placement is a proposal to the FAIA community and enters the core at v0.2.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to 17:00. Three environments, one signature. In a conversational assistant with the skill uploaded, the AI drafts and checks the record; the human signs locally afterwards, because the private key never goes to a remote sandbox. This environment is not yet tested. In a local coding agent, the one used in the acceptance test, the agent drafts, checks and signs with the human's local key, and stops at a signed, verified file; publication is a separate, human-run, gated step. In a future desktop app with a local signing service, the request can be conversational or a right-click, and the human confirms in a dialogue; the key stays on the machine. In every case the signature is made with the human's key. If short of time, this slide can be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to 18:30. Calibration, stated plainly. Demonstrated: outputs as FDOs, in the published corpus and in four records minted by an AI agent that declares its own involvement in all three graphs; and an input as an FDO, the specification record, whose bytes the agent verified before use. Designed but not built: FDO resolution as the standard input channel for agents, through an MCP endpoint, and desktop minting through a local signing service. Goal, argued for: FDOs as the accepted standard for the inputs and outputs of FAIR AI. Next: the skill alone, which needs the type slots shipped with the skill; a stricter test from a minimal request; FAIA placement with the FAIA community; a catalogue of object types; more skills; the MCP endpoint; desktop minting.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 to 20:00. The invitation. The minting skill, npfdo-mint v0.1.0, is the first skill of a free skill library for making AI more FAIR: code under Apache 2.0, documents under CC BY 4.0. The skill is itself an FDO, with its own record. The specification is open under CC BY 4.0. What would help most: skills for other object types, carriers and agents; types for the objects in your own pipelines; critical review of the core; and engagement on where AI attribution belongs in the record. Close on the one-line vision: in FAIR AI, the only inputs are FDOs and all outputs are FDOs.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sp>
      <p:sp>
        <p:nvSpPr>
          <p:cNvPr id="4" name="Text 1"/>
          <p:cNvSpPr txBox="1"/>
          <p:nvPr/>
        </p:nvSpPr>
        <p:spPr>
          <a:xfrm>
            <a:off x="2743200" y="1737360"/>
            <a:ext cx="8778240" cy="1280160"/>
          </a:xfrm>
          <a:prstGeom prst="rect">
            <a:avLst/>
          </a:prstGeom>
          <a:noFill/>
          <a:ln/>
        </p:spPr>
        <p:txBody>
          <a:bodyPr wrap="square" lIns="0" tIns="0" rIns="0" bIns="0" rtlCol="0" anchor="ctr"/>
          <a:lstStyle/>
          <a:p>
            <a:pPr algn="l" indent="0" marL="0">
              <a:buNone/>
            </a:pPr>
            <a:r>
              <a:rPr lang="en-US" sz="6000" dirty="0">
                <a:solidFill>
                  <a:srgbClr val="1B2A4E"/>
                </a:solidFill>
                <a:latin typeface="Cambria" pitchFamily="34" charset="0"/>
                <a:ea typeface="Cambria" pitchFamily="34" charset="-122"/>
                <a:cs typeface="Cambria" pitchFamily="34" charset="-120"/>
              </a:rPr>
              <a:t>FAIR-Ready AI</a:t>
            </a:r>
            <a:endParaRPr lang="en-US" sz="6000" dirty="0"/>
          </a:p>
        </p:txBody>
      </p:sp>
      <p:sp>
        <p:nvSpPr>
          <p:cNvPr id="5" name="Text 2"/>
          <p:cNvSpPr txBox="1"/>
          <p:nvPr/>
        </p:nvSpPr>
        <p:spPr>
          <a:xfrm>
            <a:off x="2743200" y="3246120"/>
            <a:ext cx="8778240" cy="457200"/>
          </a:xfrm>
          <a:prstGeom prst="rect">
            <a:avLst/>
          </a:prstGeom>
          <a:noFill/>
          <a:ln/>
        </p:spPr>
        <p:txBody>
          <a:bodyPr wrap="square" lIns="0" tIns="0" rIns="0" bIns="0" rtlCol="0" anchor="ctr"/>
          <a:lstStyle/>
          <a:p>
            <a:pPr algn="l" indent="0" marL="0">
              <a:buNone/>
            </a:pPr>
            <a:r>
              <a:rPr lang="en-US" sz="2200" b="1" dirty="0">
                <a:solidFill>
                  <a:srgbClr val="22252E"/>
                </a:solidFill>
                <a:latin typeface="Calibri" pitchFamily="34" charset="0"/>
                <a:ea typeface="Calibri" pitchFamily="34" charset="-122"/>
                <a:cs typeface="Calibri" pitchFamily="34" charset="-120"/>
              </a:rPr>
              <a:t>Erik Schultes</a:t>
            </a:r>
            <a:endParaRPr lang="en-US" sz="2200" dirty="0"/>
          </a:p>
        </p:txBody>
      </p:sp>
      <p:sp>
        <p:nvSpPr>
          <p:cNvPr id="6" name="Text 3"/>
          <p:cNvSpPr txBox="1"/>
          <p:nvPr/>
        </p:nvSpPr>
        <p:spPr>
          <a:xfrm>
            <a:off x="2743200" y="3749040"/>
            <a:ext cx="8778240" cy="1005840"/>
          </a:xfrm>
          <a:prstGeom prst="rect">
            <a:avLst/>
          </a:prstGeom>
          <a:noFill/>
          <a:ln/>
        </p:spPr>
        <p:txBody>
          <a:bodyPr wrap="square" lIns="0" tIns="0" rIns="0" bIns="0" rtlCol="0" anchor="t"/>
          <a:lstStyle/>
          <a:p>
            <a:pPr algn="l" indent="0" marL="0">
              <a:spcAft>
                <a:spcPts val="300"/>
              </a:spcAft>
              <a:buNone/>
            </a:pPr>
            <a:r>
              <a:rPr lang="en-US" sz="1500" dirty="0">
                <a:solidFill>
                  <a:srgbClr val="5A5F6E"/>
                </a:solidFill>
                <a:latin typeface="Calibri" pitchFamily="34" charset="0"/>
                <a:ea typeface="Calibri" pitchFamily="34" charset="-122"/>
                <a:cs typeface="Calibri" pitchFamily="34" charset="-120"/>
              </a:rPr>
              <a:t>Leiden Academic Centre for Drug Research, Leiden University</a:t>
            </a:r>
            <a:endParaRPr lang="en-US" sz="1500" dirty="0"/>
          </a:p>
          <a:p>
            <a:pPr algn="l" indent="0" marL="0">
              <a:spcAft>
                <a:spcPts val="300"/>
              </a:spcAft>
              <a:buNone/>
            </a:pPr>
            <a:r>
              <a:rPr lang="en-US" sz="1500" dirty="0">
                <a:solidFill>
                  <a:srgbClr val="5A5F6E"/>
                </a:solidFill>
                <a:latin typeface="Calibri" pitchFamily="34" charset="0"/>
                <a:ea typeface="Calibri" pitchFamily="34" charset="-122"/>
                <a:cs typeface="Calibri" pitchFamily="34" charset="-120"/>
              </a:rPr>
              <a:t>GO FAIR Foundation  ·  partners in FAIR</a:t>
            </a:r>
            <a:endParaRPr lang="en-US" sz="1500" dirty="0"/>
          </a:p>
          <a:p>
            <a:pPr algn="l" indent="0" marL="0">
              <a:spcAft>
                <a:spcPts val="300"/>
              </a:spcAft>
              <a:buNone/>
            </a:pPr>
            <a:r>
              <a:rPr lang="en-US" sz="1500" dirty="0">
                <a:solidFill>
                  <a:srgbClr val="5A5F6E"/>
                </a:solidFill>
                <a:latin typeface="Calibri" pitchFamily="34" charset="0"/>
                <a:ea typeface="Calibri" pitchFamily="34" charset="-122"/>
                <a:cs typeface="Calibri" pitchFamily="34" charset="-120"/>
              </a:rPr>
              <a:t>ORCID 0000-0001-8888-635X</a:t>
            </a:r>
            <a:endParaRPr lang="en-US" sz="1500" dirty="0"/>
          </a:p>
        </p:txBody>
      </p:sp>
      <p:sp>
        <p:nvSpPr>
          <p:cNvPr id="7" name="Text 4"/>
          <p:cNvSpPr txBox="1"/>
          <p:nvPr/>
        </p:nvSpPr>
        <p:spPr>
          <a:xfrm>
            <a:off x="2743200" y="5166360"/>
            <a:ext cx="8778240" cy="731520"/>
          </a:xfrm>
          <a:prstGeom prst="rect">
            <a:avLst/>
          </a:prstGeom>
          <a:noFill/>
          <a:ln/>
        </p:spPr>
        <p:txBody>
          <a:bodyPr wrap="square" lIns="0" tIns="0" rIns="0" bIns="0" rtlCol="0" anchor="t"/>
          <a:lstStyle/>
          <a:p>
            <a:pPr algn="l" indent="0" marL="0">
              <a:spcAft>
                <a:spcPts val="300"/>
              </a:spcAft>
              <a:buNone/>
            </a:pPr>
            <a:r>
              <a:rPr lang="en-US" sz="1500" dirty="0">
                <a:solidFill>
                  <a:srgbClr val="8E1B0E"/>
                </a:solidFill>
                <a:latin typeface="Calibri" pitchFamily="34" charset="0"/>
                <a:ea typeface="Calibri" pitchFamily="34" charset="-122"/>
                <a:cs typeface="Calibri" pitchFamily="34" charset="-120"/>
              </a:rPr>
              <a:t>Industry Symposium “AI in Life Sciences and Medicine”, 3rd edition</a:t>
            </a:r>
            <a:endParaRPr lang="en-US" sz="1500" dirty="0"/>
          </a:p>
          <a:p>
            <a:pPr algn="l" indent="0" marL="0">
              <a:spcAft>
                <a:spcPts val="300"/>
              </a:spcAft>
              <a:buNone/>
            </a:pPr>
            <a:r>
              <a:rPr lang="en-US" sz="1500" dirty="0">
                <a:solidFill>
                  <a:srgbClr val="8E1B0E"/>
                </a:solidFill>
                <a:latin typeface="Calibri" pitchFamily="34" charset="0"/>
                <a:ea typeface="Calibri" pitchFamily="34" charset="-122"/>
                <a:cs typeface="Calibri" pitchFamily="34" charset="-120"/>
              </a:rPr>
              <a:t>Fraunhofer SCAI  ·  Bonn  ·  29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sp>
      <p:sp>
        <p:nvSpPr>
          <p:cNvPr id="4" name="Text 1"/>
          <p:cNvSpPr txBox="1"/>
          <p:nvPr/>
        </p:nvSpPr>
        <p:spPr>
          <a:xfrm>
            <a:off x="137160" y="2926080"/>
            <a:ext cx="1417320" cy="64008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Legacy</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data</a:t>
            </a:r>
            <a:endParaRPr lang="en-US" sz="1500" dirty="0"/>
          </a:p>
        </p:txBody>
      </p:sp>
      <p:sp>
        <p:nvSpPr>
          <p:cNvPr id="5" name="Text 2"/>
          <p:cNvSpPr txBox="1"/>
          <p:nvPr/>
        </p:nvSpPr>
        <p:spPr>
          <a:xfrm>
            <a:off x="2194560" y="320040"/>
            <a:ext cx="9418320"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Today: anonymous bytes in, anonymous bytes out</a:t>
            </a:r>
            <a:endParaRPr lang="en-US" sz="3000" dirty="0"/>
          </a:p>
        </p:txBody>
      </p:sp>
      <p:sp>
        <p:nvSpPr>
          <p:cNvPr id="6" name="Shape 3"/>
          <p:cNvSpPr/>
          <p:nvPr/>
        </p:nvSpPr>
        <p:spPr>
          <a:xfrm>
            <a:off x="2057400" y="3108960"/>
            <a:ext cx="3108960" cy="0"/>
          </a:xfrm>
          <a:prstGeom prst="line">
            <a:avLst/>
          </a:prstGeom>
          <a:noFill/>
          <a:ln w="25400">
            <a:solidFill>
              <a:srgbClr val="0D4C77"/>
            </a:solidFill>
            <a:prstDash val="solid"/>
            <a:tailEnd type="triangle"/>
          </a:ln>
        </p:spPr>
      </p:sp>
      <p:sp>
        <p:nvSpPr>
          <p:cNvPr id="7" name="Text 4"/>
          <p:cNvSpPr txBox="1"/>
          <p:nvPr/>
        </p:nvSpPr>
        <p:spPr>
          <a:xfrm>
            <a:off x="2103120" y="2606040"/>
            <a:ext cx="3017520" cy="365760"/>
          </a:xfrm>
          <a:prstGeom prst="rect">
            <a:avLst/>
          </a:prstGeom>
          <a:noFill/>
          <a:ln/>
        </p:spPr>
        <p:txBody>
          <a:bodyPr wrap="square" lIns="0" tIns="0" rIns="0" bIns="0" rtlCol="0" anchor="ctr"/>
          <a:lstStyle/>
          <a:p>
            <a:pPr algn="ctr" indent="0" marL="0">
              <a:buNone/>
            </a:pPr>
            <a:r>
              <a:rPr lang="en-US" sz="1400" dirty="0">
                <a:solidFill>
                  <a:srgbClr val="8E1B0E"/>
                </a:solidFill>
                <a:latin typeface="Calibri" pitchFamily="34" charset="0"/>
                <a:ea typeface="Calibri" pitchFamily="34" charset="-122"/>
                <a:cs typeface="Calibri" pitchFamily="34" charset="-120"/>
              </a:rPr>
              <a:t>noise, bias, unclear rights</a:t>
            </a:r>
            <a:endParaRPr lang="en-US" sz="1400" dirty="0"/>
          </a:p>
        </p:txBody>
      </p:sp>
      <p:sp>
        <p:nvSpPr>
          <p:cNvPr id="8" name="Shape 5"/>
          <p:cNvSpPr/>
          <p:nvPr/>
        </p:nvSpPr>
        <p:spPr>
          <a:xfrm>
            <a:off x="5189220" y="2400300"/>
            <a:ext cx="1417320" cy="1417320"/>
          </a:xfrm>
          <a:prstGeom prst="ellipse">
            <a:avLst/>
          </a:prstGeom>
          <a:solidFill>
            <a:srgbClr val="525C8D"/>
          </a:solidFill>
          <a:ln w="12700">
            <a:solidFill>
              <a:srgbClr val="525C8D"/>
            </a:solidFill>
            <a:prstDash val="solid"/>
          </a:ln>
        </p:spPr>
      </p:sp>
      <p:sp>
        <p:nvSpPr>
          <p:cNvPr id="9" name="Text 6"/>
          <p:cNvSpPr txBox="1"/>
          <p:nvPr/>
        </p:nvSpPr>
        <p:spPr>
          <a:xfrm>
            <a:off x="5234940" y="2400300"/>
            <a:ext cx="1325880" cy="1417320"/>
          </a:xfrm>
          <a:prstGeom prst="rect">
            <a:avLst/>
          </a:prstGeom>
          <a:noFill/>
          <a:ln/>
        </p:spPr>
        <p:txBody>
          <a:bodyPr wrap="square" lIns="0" tIns="0" rIns="0" bIns="0"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AI</a:t>
            </a:r>
            <a:endParaRPr lang="en-US" sz="2000" dirty="0"/>
          </a:p>
        </p:txBody>
      </p:sp>
      <p:sp>
        <p:nvSpPr>
          <p:cNvPr id="10" name="Text 7"/>
          <p:cNvSpPr txBox="1"/>
          <p:nvPr/>
        </p:nvSpPr>
        <p:spPr>
          <a:xfrm>
            <a:off x="6766560" y="2331720"/>
            <a:ext cx="1280160" cy="1554480"/>
          </a:xfrm>
          <a:prstGeom prst="rect">
            <a:avLst/>
          </a:prstGeom>
          <a:noFill/>
          <a:ln/>
        </p:spPr>
        <p:txBody>
          <a:bodyPr wrap="square" lIns="0" tIns="0" rIns="0" bIns="0" rtlCol="0" anchor="ctr"/>
          <a:lstStyle/>
          <a:p>
            <a:pPr algn="l" indent="0" marL="0">
              <a:buNone/>
            </a:pPr>
            <a:r>
              <a:rPr lang="en-US" sz="1400" dirty="0">
                <a:solidFill>
                  <a:srgbClr val="8E1B0E"/>
                </a:solidFill>
                <a:latin typeface="Calibri" pitchFamily="34" charset="0"/>
                <a:ea typeface="Calibri" pitchFamily="34" charset="-122"/>
                <a:cs typeface="Calibri" pitchFamily="34" charset="-120"/>
              </a:rPr>
              <a:t>text</a:t>
            </a:r>
            <a:endParaRPr lang="en-US" sz="1400" dirty="0"/>
          </a:p>
          <a:p>
            <a:pPr algn="l" indent="0" marL="0">
              <a:buNone/>
            </a:pPr>
            <a:r>
              <a:rPr lang="en-US" sz="1400" dirty="0">
                <a:solidFill>
                  <a:srgbClr val="8E1B0E"/>
                </a:solidFill>
                <a:latin typeface="Calibri" pitchFamily="34" charset="0"/>
                <a:ea typeface="Calibri" pitchFamily="34" charset="-122"/>
                <a:cs typeface="Calibri" pitchFamily="34" charset="-120"/>
              </a:rPr>
              <a:t>code</a:t>
            </a:r>
            <a:endParaRPr lang="en-US" sz="1400" dirty="0"/>
          </a:p>
          <a:p>
            <a:pPr algn="l" indent="0" marL="0">
              <a:buNone/>
            </a:pPr>
            <a:r>
              <a:rPr lang="en-US" sz="1400" dirty="0">
                <a:solidFill>
                  <a:srgbClr val="8E1B0E"/>
                </a:solidFill>
                <a:latin typeface="Calibri" pitchFamily="34" charset="0"/>
                <a:ea typeface="Calibri" pitchFamily="34" charset="-122"/>
                <a:cs typeface="Calibri" pitchFamily="34" charset="-120"/>
              </a:rPr>
              <a:t>images</a:t>
            </a:r>
            <a:endParaRPr lang="en-US" sz="1400" dirty="0"/>
          </a:p>
          <a:p>
            <a:pPr algn="l" indent="0" marL="0">
              <a:buNone/>
            </a:pPr>
            <a:r>
              <a:rPr lang="en-US" sz="1400" dirty="0">
                <a:solidFill>
                  <a:srgbClr val="8E1B0E"/>
                </a:solidFill>
                <a:latin typeface="Calibri" pitchFamily="34" charset="0"/>
                <a:ea typeface="Calibri" pitchFamily="34" charset="-122"/>
                <a:cs typeface="Calibri" pitchFamily="34" charset="-120"/>
              </a:rPr>
              <a:t>analyses</a:t>
            </a:r>
            <a:endParaRPr lang="en-US" sz="1400" dirty="0"/>
          </a:p>
        </p:txBody>
      </p:sp>
      <p:sp>
        <p:nvSpPr>
          <p:cNvPr id="11" name="Shape 8"/>
          <p:cNvSpPr/>
          <p:nvPr/>
        </p:nvSpPr>
        <p:spPr>
          <a:xfrm>
            <a:off x="5897880" y="3822192"/>
            <a:ext cx="0" cy="1069848"/>
          </a:xfrm>
          <a:prstGeom prst="line">
            <a:avLst/>
          </a:prstGeom>
          <a:noFill/>
          <a:ln w="25400">
            <a:solidFill>
              <a:srgbClr val="0D4C77"/>
            </a:solidFill>
            <a:prstDash val="solid"/>
          </a:ln>
        </p:spPr>
      </p:sp>
      <p:sp>
        <p:nvSpPr>
          <p:cNvPr id="12" name="Shape 9"/>
          <p:cNvSpPr/>
          <p:nvPr/>
        </p:nvSpPr>
        <p:spPr>
          <a:xfrm flipH="1">
            <a:off x="1691640" y="4892040"/>
            <a:ext cx="4206240" cy="0"/>
          </a:xfrm>
          <a:prstGeom prst="line">
            <a:avLst/>
          </a:prstGeom>
          <a:noFill/>
          <a:ln w="25400">
            <a:solidFill>
              <a:srgbClr val="0D4C77"/>
            </a:solidFill>
            <a:prstDash val="solid"/>
            <a:tailEnd type="triangle"/>
          </a:ln>
        </p:spPr>
      </p:sp>
      <p:sp>
        <p:nvSpPr>
          <p:cNvPr id="13" name="Text 10"/>
          <p:cNvSpPr txBox="1"/>
          <p:nvPr/>
        </p:nvSpPr>
        <p:spPr>
          <a:xfrm>
            <a:off x="2103120" y="4983480"/>
            <a:ext cx="3749040" cy="365760"/>
          </a:xfrm>
          <a:prstGeom prst="rect">
            <a:avLst/>
          </a:prstGeom>
          <a:noFill/>
          <a:ln/>
        </p:spPr>
        <p:txBody>
          <a:bodyPr wrap="square" lIns="0" tIns="0" rIns="0" bIns="0" rtlCol="0" anchor="ctr"/>
          <a:lstStyle/>
          <a:p>
            <a:pPr algn="ctr" indent="0" marL="0">
              <a:buNone/>
            </a:pPr>
            <a:r>
              <a:rPr lang="en-US" sz="1300" i="1" dirty="0">
                <a:solidFill>
                  <a:srgbClr val="8E1B0E"/>
                </a:solidFill>
                <a:latin typeface="Calibri" pitchFamily="34" charset="0"/>
                <a:ea typeface="Calibri" pitchFamily="34" charset="-122"/>
                <a:cs typeface="Calibri" pitchFamily="34" charset="-120"/>
              </a:rPr>
              <a:t>outputs re-enter the corpus that trains the next models</a:t>
            </a:r>
            <a:endParaRPr lang="en-US" sz="1300" dirty="0"/>
          </a:p>
        </p:txBody>
      </p:sp>
      <p:sp>
        <p:nvSpPr>
          <p:cNvPr id="14" name="Shape 11"/>
          <p:cNvSpPr/>
          <p:nvPr/>
        </p:nvSpPr>
        <p:spPr>
          <a:xfrm>
            <a:off x="8229600" y="1508760"/>
            <a:ext cx="3429000" cy="3429000"/>
          </a:xfrm>
          <a:prstGeom prst="rect">
            <a:avLst/>
          </a:prstGeom>
          <a:solidFill>
            <a:srgbClr val="EEF0F6"/>
          </a:solidFill>
          <a:ln w="12700">
            <a:solidFill>
              <a:srgbClr val="EEF0F6"/>
            </a:solidFill>
            <a:prstDash val="solid"/>
          </a:ln>
        </p:spPr>
      </p:sp>
      <p:sp>
        <p:nvSpPr>
          <p:cNvPr id="15" name="Text 12"/>
          <p:cNvSpPr txBox="1"/>
          <p:nvPr/>
        </p:nvSpPr>
        <p:spPr>
          <a:xfrm>
            <a:off x="8458200" y="1645920"/>
            <a:ext cx="3017520" cy="411480"/>
          </a:xfrm>
          <a:prstGeom prst="rect">
            <a:avLst/>
          </a:prstGeom>
          <a:noFill/>
          <a:ln/>
        </p:spPr>
        <p:txBody>
          <a:bodyPr wrap="square" lIns="0" tIns="0" rIns="0" bIns="0" rtlCol="0" anchor="ctr"/>
          <a:lstStyle/>
          <a:p>
            <a:pPr indent="0" marL="0">
              <a:buNone/>
            </a:pPr>
            <a:r>
              <a:rPr lang="en-US" sz="1800" b="1" dirty="0">
                <a:solidFill>
                  <a:srgbClr val="1B2A4E"/>
                </a:solidFill>
                <a:latin typeface="Cambria" pitchFamily="34" charset="0"/>
                <a:ea typeface="Cambria" pitchFamily="34" charset="-122"/>
                <a:cs typeface="Cambria" pitchFamily="34" charset="-120"/>
              </a:rPr>
              <a:t>What is usually missing</a:t>
            </a:r>
            <a:endParaRPr lang="en-US" sz="1800" dirty="0"/>
          </a:p>
        </p:txBody>
      </p:sp>
      <p:sp>
        <p:nvSpPr>
          <p:cNvPr id="16" name="Text 13"/>
          <p:cNvSpPr txBox="1"/>
          <p:nvPr/>
        </p:nvSpPr>
        <p:spPr>
          <a:xfrm>
            <a:off x="8458200" y="2148840"/>
            <a:ext cx="306324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persistent identifier</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Provenance: who or what made it</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licence</a:t>
            </a:r>
            <a:endParaRPr lang="en-US" sz="1600" dirty="0"/>
          </a:p>
          <a:p>
            <a:pPr marL="342900" indent="-342900">
              <a:spcAft>
                <a:spcPts val="1000"/>
              </a:spcAft>
              <a:buSzPct val="100000"/>
              <a:buChar char="•"/>
            </a:pPr>
            <a:r>
              <a:rPr lang="en-US" sz="1600" dirty="0">
                <a:solidFill>
                  <a:srgbClr val="22252E"/>
                </a:solidFill>
                <a:latin typeface="Calibri" pitchFamily="34" charset="0"/>
                <a:ea typeface="Calibri" pitchFamily="34" charset="-122"/>
                <a:cs typeface="Calibri" pitchFamily="34" charset="-120"/>
              </a:rPr>
              <a:t>A checksum that fixes the bytes</a:t>
            </a:r>
            <a:endParaRPr lang="en-US" sz="1600" dirty="0"/>
          </a:p>
        </p:txBody>
      </p:sp>
      <p:sp>
        <p:nvSpPr>
          <p:cNvPr id="17" name="Text 14"/>
          <p:cNvSpPr txBox="1"/>
          <p:nvPr/>
        </p:nvSpPr>
        <p:spPr>
          <a:xfrm>
            <a:off x="2194560" y="5623560"/>
            <a:ext cx="9464040" cy="640080"/>
          </a:xfrm>
          <a:prstGeom prst="rect">
            <a:avLst/>
          </a:prstGeom>
          <a:noFill/>
          <a:ln/>
        </p:spPr>
        <p:txBody>
          <a:bodyPr wrap="square" lIns="0" tIns="0" rIns="0" bIns="0" rtlCol="0" anchor="t"/>
          <a:lstStyle/>
          <a:p>
            <a:pPr algn="l" indent="0" marL="0">
              <a:spcAft>
                <a:spcPts val="200"/>
              </a:spcAft>
              <a:buNone/>
            </a:pPr>
            <a:r>
              <a:rPr lang="en-US" sz="1100" dirty="0">
                <a:solidFill>
                  <a:srgbClr val="5A5F6E"/>
                </a:solidFill>
                <a:latin typeface="Calibri" pitchFamily="34" charset="0"/>
                <a:ea typeface="Calibri" pitchFamily="34" charset="-122"/>
                <a:cs typeface="Calibri" pitchFamily="34" charset="-120"/>
              </a:rPr>
              <a:t>Recursive training on generated data degrades models: Shumailov et al., Nature 631, 755–759 (2024).</a:t>
            </a:r>
            <a:endParaRPr lang="en-US" sz="1100" dirty="0"/>
          </a:p>
          <a:p>
            <a:pPr algn="l" indent="0" marL="0">
              <a:spcAft>
                <a:spcPts val="200"/>
              </a:spcAft>
              <a:buNone/>
            </a:pPr>
            <a:r>
              <a:rPr lang="en-US" sz="1100" dirty="0">
                <a:solidFill>
                  <a:srgbClr val="5A5F6E"/>
                </a:solidFill>
                <a:latin typeface="Calibri" pitchFamily="34" charset="0"/>
                <a:ea typeface="Calibri" pitchFamily="34" charset="-122"/>
                <a:cs typeface="Calibri" pitchFamily="34" charset="-120"/>
              </a:rPr>
              <a:t>EU AI Act, Art. 50(2): outputs of generative AI systems to be marked as AI-generated in a machine-readable format.</a:t>
            </a:r>
            <a:endParaRPr lang="en-US" sz="1100" dirty="0"/>
          </a:p>
        </p:txBody>
      </p:sp>
      <p:sp>
        <p:nvSpPr>
          <p:cNvPr id="18" name="Text 15"/>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The inversion: FDOs in, FDOs out</a:t>
            </a:r>
            <a:endParaRPr lang="en-US" sz="3000" dirty="0"/>
          </a:p>
        </p:txBody>
      </p:sp>
      <p:sp>
        <p:nvSpPr>
          <p:cNvPr id="4" name="Text 1"/>
          <p:cNvSpPr txBox="1"/>
          <p:nvPr/>
        </p:nvSpPr>
        <p:spPr>
          <a:xfrm>
            <a:off x="1097280" y="1097280"/>
            <a:ext cx="9966960" cy="548640"/>
          </a:xfrm>
          <a:prstGeom prst="rect">
            <a:avLst/>
          </a:prstGeom>
          <a:noFill/>
          <a:ln/>
        </p:spPr>
        <p:txBody>
          <a:bodyPr wrap="square" lIns="0" tIns="0" rIns="0" bIns="0" rtlCol="0" anchor="ctr"/>
          <a:lstStyle/>
          <a:p>
            <a:pPr algn="ctr" indent="0" marL="0">
              <a:buNone/>
            </a:pPr>
            <a:r>
              <a:rPr lang="en-US" sz="2000" i="1" dirty="0">
                <a:solidFill>
                  <a:srgbClr val="22252E"/>
                </a:solidFill>
                <a:latin typeface="Cambria" pitchFamily="34" charset="0"/>
                <a:ea typeface="Cambria" pitchFamily="34" charset="-122"/>
                <a:cs typeface="Cambria" pitchFamily="34" charset="-120"/>
              </a:rPr>
              <a:t>In FAIR AI, the only inputs are FAIR Digital Objects and all outputs are FAIR Digital Objects.</a:t>
            </a:r>
            <a:endParaRPr lang="en-US" sz="2000" dirty="0"/>
          </a:p>
        </p:txBody>
      </p:sp>
      <p:sp>
        <p:nvSpPr>
          <p:cNvPr id="5" name="Shape 2"/>
          <p:cNvSpPr/>
          <p:nvPr/>
        </p:nvSpPr>
        <p:spPr>
          <a:xfrm>
            <a:off x="1988820" y="2308860"/>
            <a:ext cx="1325880" cy="1325880"/>
          </a:xfrm>
          <a:prstGeom prst="ellipse">
            <a:avLst/>
          </a:prstGeom>
          <a:solidFill>
            <a:srgbClr val="525C8D"/>
          </a:solidFill>
          <a:ln w="12700">
            <a:solidFill>
              <a:srgbClr val="525C8D"/>
            </a:solidFill>
            <a:prstDash val="solid"/>
          </a:ln>
        </p:spPr>
      </p:sp>
      <p:sp>
        <p:nvSpPr>
          <p:cNvPr id="6" name="Text 3"/>
          <p:cNvSpPr txBox="1"/>
          <p:nvPr/>
        </p:nvSpPr>
        <p:spPr>
          <a:xfrm>
            <a:off x="2034540" y="2308860"/>
            <a:ext cx="1234440" cy="13258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FDO</a:t>
            </a:r>
            <a:endParaRPr lang="en-US" sz="1800" dirty="0"/>
          </a:p>
        </p:txBody>
      </p:sp>
      <p:sp>
        <p:nvSpPr>
          <p:cNvPr id="7" name="Shape 4"/>
          <p:cNvSpPr/>
          <p:nvPr/>
        </p:nvSpPr>
        <p:spPr>
          <a:xfrm>
            <a:off x="5298948" y="2171700"/>
            <a:ext cx="1600200" cy="1600200"/>
          </a:xfrm>
          <a:prstGeom prst="ellipse">
            <a:avLst/>
          </a:prstGeom>
          <a:solidFill>
            <a:srgbClr val="525C8D"/>
          </a:solidFill>
          <a:ln w="12700">
            <a:solidFill>
              <a:srgbClr val="525C8D"/>
            </a:solidFill>
            <a:prstDash val="solid"/>
          </a:ln>
        </p:spPr>
      </p:sp>
      <p:sp>
        <p:nvSpPr>
          <p:cNvPr id="8" name="Text 5"/>
          <p:cNvSpPr txBox="1"/>
          <p:nvPr/>
        </p:nvSpPr>
        <p:spPr>
          <a:xfrm>
            <a:off x="5344668" y="2171700"/>
            <a:ext cx="1508760" cy="160020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AI</a:t>
            </a:r>
            <a:endParaRPr lang="en-US" sz="2200" dirty="0"/>
          </a:p>
        </p:txBody>
      </p:sp>
      <p:sp>
        <p:nvSpPr>
          <p:cNvPr id="9" name="Shape 6"/>
          <p:cNvSpPr/>
          <p:nvPr/>
        </p:nvSpPr>
        <p:spPr>
          <a:xfrm>
            <a:off x="8874252" y="2308860"/>
            <a:ext cx="1325880" cy="1325880"/>
          </a:xfrm>
          <a:prstGeom prst="ellipse">
            <a:avLst/>
          </a:prstGeom>
          <a:solidFill>
            <a:srgbClr val="525C8D"/>
          </a:solidFill>
          <a:ln w="12700">
            <a:solidFill>
              <a:srgbClr val="525C8D"/>
            </a:solidFill>
            <a:prstDash val="solid"/>
          </a:ln>
        </p:spPr>
      </p:sp>
      <p:sp>
        <p:nvSpPr>
          <p:cNvPr id="10" name="Text 7"/>
          <p:cNvSpPr txBox="1"/>
          <p:nvPr/>
        </p:nvSpPr>
        <p:spPr>
          <a:xfrm>
            <a:off x="8919972" y="2308860"/>
            <a:ext cx="1234440" cy="13258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FDO</a:t>
            </a:r>
            <a:endParaRPr lang="en-US" sz="1800" dirty="0"/>
          </a:p>
        </p:txBody>
      </p:sp>
      <p:sp>
        <p:nvSpPr>
          <p:cNvPr id="11" name="Shape 8"/>
          <p:cNvSpPr/>
          <p:nvPr/>
        </p:nvSpPr>
        <p:spPr>
          <a:xfrm>
            <a:off x="3383280" y="2971800"/>
            <a:ext cx="1828800" cy="0"/>
          </a:xfrm>
          <a:prstGeom prst="line">
            <a:avLst/>
          </a:prstGeom>
          <a:noFill/>
          <a:ln w="25400">
            <a:solidFill>
              <a:srgbClr val="0D4C77"/>
            </a:solidFill>
            <a:prstDash val="solid"/>
            <a:tailEnd type="triangle"/>
          </a:ln>
        </p:spPr>
      </p:sp>
      <p:sp>
        <p:nvSpPr>
          <p:cNvPr id="12" name="Shape 9"/>
          <p:cNvSpPr/>
          <p:nvPr/>
        </p:nvSpPr>
        <p:spPr>
          <a:xfrm>
            <a:off x="6967728" y="2971800"/>
            <a:ext cx="1828800" cy="0"/>
          </a:xfrm>
          <a:prstGeom prst="line">
            <a:avLst/>
          </a:prstGeom>
          <a:noFill/>
          <a:ln w="25400">
            <a:solidFill>
              <a:srgbClr val="0D4C77"/>
            </a:solidFill>
            <a:prstDash val="solid"/>
            <a:tailEnd type="triangle"/>
          </a:ln>
        </p:spPr>
      </p:sp>
      <p:sp>
        <p:nvSpPr>
          <p:cNvPr id="13" name="Text 10"/>
          <p:cNvSpPr txBox="1"/>
          <p:nvPr/>
        </p:nvSpPr>
        <p:spPr>
          <a:xfrm>
            <a:off x="3291840" y="2313432"/>
            <a:ext cx="2011680" cy="320040"/>
          </a:xfrm>
          <a:prstGeom prst="rect">
            <a:avLst/>
          </a:prstGeom>
          <a:noFill/>
          <a:ln/>
        </p:spPr>
        <p:txBody>
          <a:bodyPr wrap="square" lIns="0" tIns="0" rIns="0" bIns="0" rtlCol="0" anchor="ctr"/>
          <a:lstStyle/>
          <a:p>
            <a:pPr algn="ctr" indent="0" marL="0">
              <a:buNone/>
            </a:pPr>
            <a:r>
              <a:rPr lang="en-US" sz="1500" b="1" dirty="0">
                <a:solidFill>
                  <a:srgbClr val="D97800"/>
                </a:solidFill>
                <a:latin typeface="Calibri" pitchFamily="34" charset="0"/>
                <a:ea typeface="Calibri" pitchFamily="34" charset="-122"/>
                <a:cs typeface="Calibri" pitchFamily="34" charset="-120"/>
              </a:rPr>
              <a:t>AI-Ready data</a:t>
            </a:r>
            <a:endParaRPr lang="en-US" sz="1500" dirty="0"/>
          </a:p>
        </p:txBody>
      </p:sp>
      <p:sp>
        <p:nvSpPr>
          <p:cNvPr id="14" name="Text 11"/>
          <p:cNvSpPr txBox="1"/>
          <p:nvPr/>
        </p:nvSpPr>
        <p:spPr>
          <a:xfrm>
            <a:off x="3291840" y="2587752"/>
            <a:ext cx="2011680" cy="274320"/>
          </a:xfrm>
          <a:prstGeom prst="rect">
            <a:avLst/>
          </a:prstGeom>
          <a:noFill/>
          <a:ln/>
        </p:spPr>
        <p:txBody>
          <a:bodyPr wrap="square" lIns="0" tIns="0" rIns="0" bIns="0" rtlCol="0" anchor="ctr"/>
          <a:lstStyle/>
          <a:p>
            <a:pPr algn="ctr" indent="0" marL="0">
              <a:buNone/>
            </a:pPr>
            <a:r>
              <a:rPr lang="en-US" sz="1300" dirty="0">
                <a:solidFill>
                  <a:srgbClr val="D97800"/>
                </a:solidFill>
                <a:latin typeface="Calibri" pitchFamily="34" charset="0"/>
                <a:ea typeface="Calibri" pitchFamily="34" charset="-122"/>
                <a:cs typeface="Calibri" pitchFamily="34" charset="-120"/>
              </a:rPr>
              <a:t>(input)</a:t>
            </a:r>
            <a:endParaRPr lang="en-US" sz="1300" dirty="0"/>
          </a:p>
        </p:txBody>
      </p:sp>
      <p:sp>
        <p:nvSpPr>
          <p:cNvPr id="15" name="Text 12"/>
          <p:cNvSpPr txBox="1"/>
          <p:nvPr/>
        </p:nvSpPr>
        <p:spPr>
          <a:xfrm>
            <a:off x="6876288" y="2313432"/>
            <a:ext cx="2011680" cy="320040"/>
          </a:xfrm>
          <a:prstGeom prst="rect">
            <a:avLst/>
          </a:prstGeom>
          <a:noFill/>
          <a:ln/>
        </p:spPr>
        <p:txBody>
          <a:bodyPr wrap="square" lIns="0" tIns="0" rIns="0" bIns="0" rtlCol="0" anchor="ctr"/>
          <a:lstStyle/>
          <a:p>
            <a:pPr algn="ctr" indent="0" marL="0">
              <a:buNone/>
            </a:pPr>
            <a:r>
              <a:rPr lang="en-US" sz="1500" b="1" dirty="0">
                <a:solidFill>
                  <a:srgbClr val="D97800"/>
                </a:solidFill>
                <a:latin typeface="Calibri" pitchFamily="34" charset="0"/>
                <a:ea typeface="Calibri" pitchFamily="34" charset="-122"/>
                <a:cs typeface="Calibri" pitchFamily="34" charset="-120"/>
              </a:rPr>
              <a:t>FAIR-Ready AI</a:t>
            </a:r>
            <a:endParaRPr lang="en-US" sz="1500" dirty="0"/>
          </a:p>
        </p:txBody>
      </p:sp>
      <p:sp>
        <p:nvSpPr>
          <p:cNvPr id="16" name="Text 13"/>
          <p:cNvSpPr txBox="1"/>
          <p:nvPr/>
        </p:nvSpPr>
        <p:spPr>
          <a:xfrm>
            <a:off x="6876288" y="2587752"/>
            <a:ext cx="2011680" cy="274320"/>
          </a:xfrm>
          <a:prstGeom prst="rect">
            <a:avLst/>
          </a:prstGeom>
          <a:noFill/>
          <a:ln/>
        </p:spPr>
        <p:txBody>
          <a:bodyPr wrap="square" lIns="0" tIns="0" rIns="0" bIns="0" rtlCol="0" anchor="ctr"/>
          <a:lstStyle/>
          <a:p>
            <a:pPr algn="ctr" indent="0" marL="0">
              <a:buNone/>
            </a:pPr>
            <a:r>
              <a:rPr lang="en-US" sz="1300" dirty="0">
                <a:solidFill>
                  <a:srgbClr val="D97800"/>
                </a:solidFill>
                <a:latin typeface="Calibri" pitchFamily="34" charset="0"/>
                <a:ea typeface="Calibri" pitchFamily="34" charset="-122"/>
                <a:cs typeface="Calibri" pitchFamily="34" charset="-120"/>
              </a:rPr>
              <a:t>(output)</a:t>
            </a:r>
            <a:endParaRPr lang="en-US" sz="1300" dirty="0"/>
          </a:p>
        </p:txBody>
      </p:sp>
      <p:sp>
        <p:nvSpPr>
          <p:cNvPr id="17" name="Shape 14"/>
          <p:cNvSpPr/>
          <p:nvPr/>
        </p:nvSpPr>
        <p:spPr>
          <a:xfrm>
            <a:off x="1097280" y="4160520"/>
            <a:ext cx="9994392" cy="960120"/>
          </a:xfrm>
          <a:prstGeom prst="rect">
            <a:avLst/>
          </a:prstGeom>
          <a:solidFill>
            <a:srgbClr val="EEF0F6"/>
          </a:solidFill>
          <a:ln w="12700">
            <a:solidFill>
              <a:srgbClr val="EEF0F6"/>
            </a:solidFill>
            <a:prstDash val="solid"/>
          </a:ln>
        </p:spPr>
      </p:sp>
      <p:sp>
        <p:nvSpPr>
          <p:cNvPr id="18" name="Text 15"/>
          <p:cNvSpPr txBox="1"/>
          <p:nvPr/>
        </p:nvSpPr>
        <p:spPr>
          <a:xfrm>
            <a:off x="1325880" y="4206240"/>
            <a:ext cx="9555480" cy="868680"/>
          </a:xfrm>
          <a:prstGeom prst="rect">
            <a:avLst/>
          </a:prstGeom>
          <a:noFill/>
          <a:ln/>
        </p:spPr>
        <p:txBody>
          <a:bodyPr wrap="square" lIns="0" tIns="0" rIns="0" bIns="0" rtlCol="0" anchor="ctr"/>
          <a:lstStyle/>
          <a:p>
            <a:pPr indent="0" marL="0">
              <a:buNone/>
            </a:pPr>
            <a:r>
              <a:rPr lang="en-US" sz="1600" b="1" dirty="0">
                <a:solidFill>
                  <a:srgbClr val="1B2A4E"/>
                </a:solidFill>
                <a:latin typeface="Calibri" pitchFamily="34" charset="0"/>
                <a:ea typeface="Calibri" pitchFamily="34" charset="-122"/>
                <a:cs typeface="Calibri" pitchFamily="34" charset="-120"/>
              </a:rPr>
              <a:t>FAIR Digital Object (FDO): </a:t>
            </a:r>
            <a:pPr indent="0" marL="0">
              <a:buNone/>
            </a:pPr>
            <a:r>
              <a:rPr lang="en-US" sz="1600" dirty="0">
                <a:solidFill>
                  <a:srgbClr val="22252E"/>
                </a:solidFill>
                <a:latin typeface="Calibri" pitchFamily="34" charset="0"/>
                <a:ea typeface="Calibri" pitchFamily="34" charset="-122"/>
                <a:cs typeface="Calibri" pitchFamily="34" charset="-120"/>
              </a:rPr>
              <a:t>a persistent identifier that resolves to a machine-readable record stating what the object is, who made it, under which licence, and exactly which bytes it is.</a:t>
            </a:r>
            <a:endParaRPr lang="en-US" sz="1600" dirty="0"/>
          </a:p>
        </p:txBody>
      </p:sp>
      <p:sp>
        <p:nvSpPr>
          <p:cNvPr id="19" name="Text 16"/>
          <p:cNvSpPr txBox="1"/>
          <p:nvPr/>
        </p:nvSpPr>
        <p:spPr>
          <a:xfrm>
            <a:off x="1325880" y="5349240"/>
            <a:ext cx="9555480" cy="457200"/>
          </a:xfrm>
          <a:prstGeom prst="rect">
            <a:avLst/>
          </a:prstGeom>
          <a:noFill/>
          <a:ln/>
        </p:spPr>
        <p:txBody>
          <a:bodyPr wrap="square" lIns="0" tIns="0" rIns="0" bIns="0" rtlCol="0" anchor="ctr"/>
          <a:lstStyle/>
          <a:p>
            <a:pPr indent="0" marL="0">
              <a:buNone/>
            </a:pPr>
            <a:r>
              <a:rPr lang="en-US" sz="1500" b="1" dirty="0">
                <a:solidFill>
                  <a:srgbClr val="D97800"/>
                </a:solidFill>
                <a:latin typeface="Calibri" pitchFamily="34" charset="0"/>
                <a:ea typeface="Calibri" pitchFamily="34" charset="-122"/>
                <a:cs typeface="Calibri" pitchFamily="34" charset="-120"/>
              </a:rPr>
              <a:t>Goal (argued for, not yet a result): </a:t>
            </a:r>
            <a:pPr indent="0" marL="0">
              <a:buNone/>
            </a:pPr>
            <a:r>
              <a:rPr lang="en-US" sz="1500" dirty="0">
                <a:solidFill>
                  <a:srgbClr val="22252E"/>
                </a:solidFill>
                <a:latin typeface="Calibri" pitchFamily="34" charset="0"/>
                <a:ea typeface="Calibri" pitchFamily="34" charset="-122"/>
                <a:cs typeface="Calibri" pitchFamily="34" charset="-120"/>
              </a:rPr>
              <a:t>minting an FDO becomes as routine as saving a file; one day, a right-click on the desktop.</a:t>
            </a:r>
            <a:endParaRPr lang="en-US" sz="1500" dirty="0"/>
          </a:p>
        </p:txBody>
      </p:sp>
      <p:sp>
        <p:nvSpPr>
          <p:cNvPr id="20" name="Text 17"/>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What a record adds: identifier, record, bytes</a:t>
            </a:r>
            <a:endParaRPr lang="en-US" sz="3000" dirty="0"/>
          </a:p>
        </p:txBody>
      </p:sp>
      <p:sp>
        <p:nvSpPr>
          <p:cNvPr id="4" name="Shape 1"/>
          <p:cNvSpPr/>
          <p:nvPr/>
        </p:nvSpPr>
        <p:spPr>
          <a:xfrm>
            <a:off x="822960" y="1417320"/>
            <a:ext cx="2926080" cy="868680"/>
          </a:xfrm>
          <a:prstGeom prst="roundRect">
            <a:avLst>
              <a:gd name="adj" fmla="val 12632"/>
            </a:avLst>
          </a:prstGeom>
          <a:solidFill>
            <a:srgbClr val="525C8D"/>
          </a:solidFill>
          <a:ln w="12700">
            <a:solidFill>
              <a:srgbClr val="525C8D"/>
            </a:solidFill>
            <a:prstDash val="solid"/>
          </a:ln>
        </p:spPr>
      </p:sp>
      <p:sp>
        <p:nvSpPr>
          <p:cNvPr id="5" name="Text 2"/>
          <p:cNvSpPr txBox="1"/>
          <p:nvPr/>
        </p:nvSpPr>
        <p:spPr>
          <a:xfrm>
            <a:off x="822960" y="1417320"/>
            <a:ext cx="29260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Identifier</a:t>
            </a:r>
            <a:endParaRPr lang="en-US" sz="2200" dirty="0"/>
          </a:p>
        </p:txBody>
      </p:sp>
      <p:sp>
        <p:nvSpPr>
          <p:cNvPr id="6" name="Text 3"/>
          <p:cNvSpPr txBox="1"/>
          <p:nvPr/>
        </p:nvSpPr>
        <p:spPr>
          <a:xfrm>
            <a:off x="868680" y="2514600"/>
            <a:ext cx="2834640" cy="1097280"/>
          </a:xfrm>
          <a:prstGeom prst="rect">
            <a:avLst/>
          </a:prstGeom>
          <a:noFill/>
          <a:ln/>
        </p:spPr>
        <p:txBody>
          <a:bodyPr wrap="square" lIns="0" tIns="0" rIns="0" bIns="0" rtlCol="0" anchor="t"/>
          <a:lstStyle/>
          <a:p>
            <a:pPr algn="l" indent="0" marL="0">
              <a:buNone/>
            </a:pPr>
            <a:r>
              <a:rPr lang="en-US" sz="1500" dirty="0">
                <a:solidFill>
                  <a:srgbClr val="22252E"/>
                </a:solidFill>
                <a:latin typeface="Calibri" pitchFamily="34" charset="0"/>
                <a:ea typeface="Calibri" pitchFamily="34" charset="-122"/>
                <a:cs typeface="Calibri" pitchFamily="34" charset="-120"/>
              </a:rPr>
              <a:t>A Trusty URI, computed from the record’s content: any change to the record is detectable.</a:t>
            </a:r>
            <a:endParaRPr lang="en-US" sz="1500" dirty="0"/>
          </a:p>
        </p:txBody>
      </p:sp>
      <p:sp>
        <p:nvSpPr>
          <p:cNvPr id="7" name="Shape 4"/>
          <p:cNvSpPr/>
          <p:nvPr/>
        </p:nvSpPr>
        <p:spPr>
          <a:xfrm>
            <a:off x="4631436" y="1417320"/>
            <a:ext cx="2926080" cy="868680"/>
          </a:xfrm>
          <a:prstGeom prst="roundRect">
            <a:avLst>
              <a:gd name="adj" fmla="val 12632"/>
            </a:avLst>
          </a:prstGeom>
          <a:solidFill>
            <a:srgbClr val="525C8D"/>
          </a:solidFill>
          <a:ln w="12700">
            <a:solidFill>
              <a:srgbClr val="525C8D"/>
            </a:solidFill>
            <a:prstDash val="solid"/>
          </a:ln>
        </p:spPr>
      </p:sp>
      <p:sp>
        <p:nvSpPr>
          <p:cNvPr id="8" name="Text 5"/>
          <p:cNvSpPr txBox="1"/>
          <p:nvPr/>
        </p:nvSpPr>
        <p:spPr>
          <a:xfrm>
            <a:off x="4631436" y="1417320"/>
            <a:ext cx="29260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Record</a:t>
            </a:r>
            <a:endParaRPr lang="en-US" sz="2200" dirty="0"/>
          </a:p>
        </p:txBody>
      </p:sp>
      <p:sp>
        <p:nvSpPr>
          <p:cNvPr id="9" name="Text 6"/>
          <p:cNvSpPr txBox="1"/>
          <p:nvPr/>
        </p:nvSpPr>
        <p:spPr>
          <a:xfrm>
            <a:off x="4677156" y="2514600"/>
            <a:ext cx="2834640" cy="1097280"/>
          </a:xfrm>
          <a:prstGeom prst="rect">
            <a:avLst/>
          </a:prstGeom>
          <a:noFill/>
          <a:ln/>
        </p:spPr>
        <p:txBody>
          <a:bodyPr wrap="square" lIns="0" tIns="0" rIns="0" bIns="0" rtlCol="0" anchor="t"/>
          <a:lstStyle/>
          <a:p>
            <a:pPr algn="l" indent="0" marL="0">
              <a:buNone/>
            </a:pPr>
            <a:r>
              <a:rPr lang="en-US" sz="1500" dirty="0">
                <a:solidFill>
                  <a:srgbClr val="22252E"/>
                </a:solidFill>
                <a:latin typeface="Calibri" pitchFamily="34" charset="0"/>
                <a:ea typeface="Calibri" pitchFamily="34" charset="-122"/>
                <a:cs typeface="Calibri" pitchFamily="34" charset="-120"/>
              </a:rPr>
              <a:t>A signed nanopublication: type, label, attribution; for each file its licence, location and checksum.</a:t>
            </a:r>
            <a:endParaRPr lang="en-US" sz="1500" dirty="0"/>
          </a:p>
        </p:txBody>
      </p:sp>
      <p:sp>
        <p:nvSpPr>
          <p:cNvPr id="10" name="Shape 7"/>
          <p:cNvSpPr/>
          <p:nvPr/>
        </p:nvSpPr>
        <p:spPr>
          <a:xfrm>
            <a:off x="8439912" y="1417320"/>
            <a:ext cx="2926080" cy="868680"/>
          </a:xfrm>
          <a:prstGeom prst="roundRect">
            <a:avLst>
              <a:gd name="adj" fmla="val 12632"/>
            </a:avLst>
          </a:prstGeom>
          <a:solidFill>
            <a:srgbClr val="525C8D"/>
          </a:solidFill>
          <a:ln w="12700">
            <a:solidFill>
              <a:srgbClr val="525C8D"/>
            </a:solidFill>
            <a:prstDash val="solid"/>
          </a:ln>
        </p:spPr>
      </p:sp>
      <p:sp>
        <p:nvSpPr>
          <p:cNvPr id="11" name="Text 8"/>
          <p:cNvSpPr txBox="1"/>
          <p:nvPr/>
        </p:nvSpPr>
        <p:spPr>
          <a:xfrm>
            <a:off x="8439912" y="1417320"/>
            <a:ext cx="29260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Bytes</a:t>
            </a:r>
            <a:endParaRPr lang="en-US" sz="2200" dirty="0"/>
          </a:p>
        </p:txBody>
      </p:sp>
      <p:sp>
        <p:nvSpPr>
          <p:cNvPr id="12" name="Text 9"/>
          <p:cNvSpPr txBox="1"/>
          <p:nvPr/>
        </p:nvSpPr>
        <p:spPr>
          <a:xfrm>
            <a:off x="8485632" y="2514600"/>
            <a:ext cx="2834640" cy="1097280"/>
          </a:xfrm>
          <a:prstGeom prst="rect">
            <a:avLst/>
          </a:prstGeom>
          <a:noFill/>
          <a:ln/>
        </p:spPr>
        <p:txBody>
          <a:bodyPr wrap="square" lIns="0" tIns="0" rIns="0" bIns="0" rtlCol="0" anchor="t"/>
          <a:lstStyle/>
          <a:p>
            <a:pPr algn="l" indent="0" marL="0">
              <a:buNone/>
            </a:pPr>
            <a:r>
              <a:rPr lang="en-US" sz="1500" dirty="0">
                <a:solidFill>
                  <a:srgbClr val="22252E"/>
                </a:solidFill>
                <a:latin typeface="Calibri" pitchFamily="34" charset="0"/>
                <a:ea typeface="Calibri" pitchFamily="34" charset="-122"/>
                <a:cs typeface="Calibri" pitchFamily="34" charset="-120"/>
              </a:rPr>
              <a:t>The file itself, stored anywhere. The SHA-256 in the record fixes exactly which bytes.</a:t>
            </a:r>
            <a:endParaRPr lang="en-US" sz="1500" dirty="0"/>
          </a:p>
        </p:txBody>
      </p:sp>
      <p:sp>
        <p:nvSpPr>
          <p:cNvPr id="13" name="Shape 10"/>
          <p:cNvSpPr/>
          <p:nvPr/>
        </p:nvSpPr>
        <p:spPr>
          <a:xfrm>
            <a:off x="3822192" y="1851660"/>
            <a:ext cx="736092" cy="0"/>
          </a:xfrm>
          <a:prstGeom prst="line">
            <a:avLst/>
          </a:prstGeom>
          <a:noFill/>
          <a:ln w="25400">
            <a:solidFill>
              <a:srgbClr val="0D4C77"/>
            </a:solidFill>
            <a:prstDash val="solid"/>
            <a:tailEnd type="triangle"/>
          </a:ln>
        </p:spPr>
      </p:sp>
      <p:sp>
        <p:nvSpPr>
          <p:cNvPr id="14" name="Shape 11"/>
          <p:cNvSpPr/>
          <p:nvPr/>
        </p:nvSpPr>
        <p:spPr>
          <a:xfrm>
            <a:off x="7630668" y="1851660"/>
            <a:ext cx="736092" cy="0"/>
          </a:xfrm>
          <a:prstGeom prst="line">
            <a:avLst/>
          </a:prstGeom>
          <a:noFill/>
          <a:ln w="25400">
            <a:solidFill>
              <a:srgbClr val="0D4C77"/>
            </a:solidFill>
            <a:prstDash val="solid"/>
            <a:tailEnd type="triangle"/>
          </a:ln>
        </p:spPr>
      </p:sp>
      <p:sp>
        <p:nvSpPr>
          <p:cNvPr id="15" name="Text 12"/>
          <p:cNvSpPr txBox="1"/>
          <p:nvPr/>
        </p:nvSpPr>
        <p:spPr>
          <a:xfrm>
            <a:off x="3749040" y="1069848"/>
            <a:ext cx="882396" cy="292608"/>
          </a:xfrm>
          <a:prstGeom prst="rect">
            <a:avLst/>
          </a:prstGeom>
          <a:noFill/>
          <a:ln/>
        </p:spPr>
        <p:txBody>
          <a:bodyPr wrap="square" lIns="0" tIns="0" rIns="0" bIns="0" rtlCol="0" anchor="ctr"/>
          <a:lstStyle/>
          <a:p>
            <a:pPr algn="ctr" indent="0" marL="0">
              <a:buNone/>
            </a:pPr>
            <a:r>
              <a:rPr lang="en-US" sz="1200" dirty="0">
                <a:solidFill>
                  <a:srgbClr val="8E1B0E"/>
                </a:solidFill>
                <a:latin typeface="Calibri" pitchFamily="34" charset="0"/>
                <a:ea typeface="Calibri" pitchFamily="34" charset="-122"/>
                <a:cs typeface="Calibri" pitchFamily="34" charset="-120"/>
              </a:rPr>
              <a:t>resolves to</a:t>
            </a:r>
            <a:endParaRPr lang="en-US" sz="1200" dirty="0"/>
          </a:p>
        </p:txBody>
      </p:sp>
      <p:sp>
        <p:nvSpPr>
          <p:cNvPr id="16" name="Text 13"/>
          <p:cNvSpPr txBox="1"/>
          <p:nvPr/>
        </p:nvSpPr>
        <p:spPr>
          <a:xfrm>
            <a:off x="7557516" y="1069848"/>
            <a:ext cx="882396" cy="292608"/>
          </a:xfrm>
          <a:prstGeom prst="rect">
            <a:avLst/>
          </a:prstGeom>
          <a:noFill/>
          <a:ln/>
        </p:spPr>
        <p:txBody>
          <a:bodyPr wrap="square" lIns="0" tIns="0" rIns="0" bIns="0" rtlCol="0" anchor="ctr"/>
          <a:lstStyle/>
          <a:p>
            <a:pPr algn="ctr" indent="0" marL="0">
              <a:buNone/>
            </a:pPr>
            <a:r>
              <a:rPr lang="en-US" sz="1200" dirty="0">
                <a:solidFill>
                  <a:srgbClr val="8E1B0E"/>
                </a:solidFill>
                <a:latin typeface="Calibri" pitchFamily="34" charset="0"/>
                <a:ea typeface="Calibri" pitchFamily="34" charset="-122"/>
                <a:cs typeface="Calibri" pitchFamily="34" charset="-120"/>
              </a:rPr>
              <a:t>fixes</a:t>
            </a:r>
            <a:endParaRPr lang="en-US" sz="1200" dirty="0"/>
          </a:p>
        </p:txBody>
      </p:sp>
      <p:sp>
        <p:nvSpPr>
          <p:cNvPr id="17" name="Shape 14"/>
          <p:cNvSpPr/>
          <p:nvPr/>
        </p:nvSpPr>
        <p:spPr>
          <a:xfrm>
            <a:off x="822960" y="3840480"/>
            <a:ext cx="10543032" cy="1188720"/>
          </a:xfrm>
          <a:prstGeom prst="rect">
            <a:avLst/>
          </a:prstGeom>
          <a:solidFill>
            <a:srgbClr val="EEF0F6"/>
          </a:solidFill>
          <a:ln w="12700">
            <a:solidFill>
              <a:srgbClr val="EEF0F6"/>
            </a:solidFill>
            <a:prstDash val="solid"/>
          </a:ln>
        </p:spPr>
      </p:sp>
      <p:sp>
        <p:nvSpPr>
          <p:cNvPr id="18" name="Text 15"/>
          <p:cNvSpPr txBox="1"/>
          <p:nvPr/>
        </p:nvSpPr>
        <p:spPr>
          <a:xfrm>
            <a:off x="1051560" y="3931920"/>
            <a:ext cx="10058400" cy="365760"/>
          </a:xfrm>
          <a:prstGeom prst="rect">
            <a:avLst/>
          </a:prstGeom>
          <a:noFill/>
          <a:ln/>
        </p:spPr>
        <p:txBody>
          <a:bodyPr wrap="square" lIns="0" tIns="0" rIns="0" bIns="0" rtlCol="0" anchor="ctr"/>
          <a:lstStyle/>
          <a:p>
            <a:pPr indent="0" marL="0">
              <a:buNone/>
            </a:pPr>
            <a:r>
              <a:rPr lang="en-US" sz="1500" b="1" dirty="0">
                <a:solidFill>
                  <a:srgbClr val="1B2A4E"/>
                </a:solidFill>
                <a:latin typeface="Calibri" pitchFamily="34" charset="0"/>
                <a:ea typeface="Calibri" pitchFamily="34" charset="-122"/>
                <a:cs typeface="Calibri" pitchFamily="34" charset="-120"/>
              </a:rPr>
              <a:t>Example: np-FDO core specification v0.1</a:t>
            </a:r>
            <a:endParaRPr lang="en-US" sz="1500" dirty="0"/>
          </a:p>
        </p:txBody>
      </p:sp>
      <p:sp>
        <p:nvSpPr>
          <p:cNvPr id="19" name="Text 16"/>
          <p:cNvSpPr txBox="1"/>
          <p:nvPr/>
        </p:nvSpPr>
        <p:spPr>
          <a:xfrm>
            <a:off x="1051560" y="4343400"/>
            <a:ext cx="10149840" cy="640080"/>
          </a:xfrm>
          <a:prstGeom prst="rect">
            <a:avLst/>
          </a:prstGeom>
          <a:noFill/>
          <a:ln/>
        </p:spPr>
        <p:txBody>
          <a:bodyPr wrap="square" lIns="0" tIns="0" rIns="0" bIns="0" rtlCol="0" anchor="t"/>
          <a:lstStyle/>
          <a:p>
            <a:pPr indent="0" marL="0">
              <a:spcAft>
                <a:spcPts val="400"/>
              </a:spcAft>
              <a:buNone/>
            </a:pPr>
            <a:r>
              <a:rPr lang="en-US" sz="1250" dirty="0">
                <a:solidFill>
                  <a:srgbClr val="8E1B0E"/>
                </a:solidFill>
                <a:latin typeface="Calibri" pitchFamily="34" charset="0"/>
                <a:ea typeface="Calibri" pitchFamily="34" charset="-122"/>
                <a:cs typeface="Calibri" pitchFamily="34" charset="-120"/>
              </a:rPr>
              <a:t>identifier  </a:t>
            </a:r>
            <a:pPr indent="0" marL="0">
              <a:spcAft>
                <a:spcPts val="400"/>
              </a:spcAft>
              <a:buNone/>
            </a:pPr>
            <a:r>
              <a:rPr lang="en-US" sz="1250" dirty="0">
                <a:solidFill>
                  <a:srgbClr val="22252E"/>
                </a:solidFill>
                <a:latin typeface="Courier New" pitchFamily="34" charset="0"/>
                <a:ea typeface="Courier New" pitchFamily="34" charset="-122"/>
                <a:cs typeface="Courier New" pitchFamily="34" charset="-120"/>
              </a:rPr>
              <a:t>https://w3id.org/np/RAYTT7oW0dbPdx3PqIA1m9XBLRGYVqmAhzLY7vLTMG1GI</a:t>
            </a:r>
            <a:endParaRPr lang="en-US" sz="1250" dirty="0"/>
          </a:p>
          <a:p>
            <a:pPr indent="0" marL="0">
              <a:spcAft>
                <a:spcPts val="400"/>
              </a:spcAft>
              <a:buNone/>
            </a:pPr>
            <a:r>
              <a:rPr lang="en-US" sz="1250" dirty="0">
                <a:solidFill>
                  <a:srgbClr val="8E1B0E"/>
                </a:solidFill>
                <a:latin typeface="Calibri" pitchFamily="34" charset="0"/>
                <a:ea typeface="Calibri" pitchFamily="34" charset="-122"/>
                <a:cs typeface="Calibri" pitchFamily="34" charset="-120"/>
              </a:rPr>
              <a:t>bytes       </a:t>
            </a:r>
            <a:pPr indent="0" marL="0">
              <a:spcAft>
                <a:spcPts val="400"/>
              </a:spcAft>
              <a:buNone/>
            </a:pPr>
            <a:r>
              <a:rPr lang="en-US" sz="1250" dirty="0">
                <a:solidFill>
                  <a:srgbClr val="22252E"/>
                </a:solidFill>
                <a:latin typeface="Courier New" pitchFamily="34" charset="0"/>
                <a:ea typeface="Courier New" pitchFamily="34" charset="-122"/>
                <a:cs typeface="Courier New" pitchFamily="34" charset="-120"/>
              </a:rPr>
              <a:t>SHA-256 fde7fc20…a8c140  ·  github.com/easchultes/npfdo-core, commit b400634  ·  CC BY 4.0</a:t>
            </a:r>
            <a:endParaRPr lang="en-US" sz="1250" dirty="0"/>
          </a:p>
        </p:txBody>
      </p:sp>
      <p:sp>
        <p:nvSpPr>
          <p:cNvPr id="20" name="Text 17"/>
          <p:cNvSpPr txBox="1"/>
          <p:nvPr/>
        </p:nvSpPr>
        <p:spPr>
          <a:xfrm>
            <a:off x="822960" y="5349240"/>
            <a:ext cx="10543032" cy="457200"/>
          </a:xfrm>
          <a:prstGeom prst="rect">
            <a:avLst/>
          </a:prstGeom>
          <a:noFill/>
          <a:ln/>
        </p:spPr>
        <p:txBody>
          <a:bodyPr wrap="square" lIns="0" tIns="0" rIns="0" bIns="0" rtlCol="0" anchor="ctr"/>
          <a:lstStyle/>
          <a:p>
            <a:pPr algn="ctr" indent="0" marL="0">
              <a:buNone/>
            </a:pPr>
            <a:r>
              <a:rPr lang="en-US" sz="1900" i="1" dirty="0">
                <a:solidFill>
                  <a:srgbClr val="1B2A4E"/>
                </a:solidFill>
                <a:latin typeface="Cambria" pitchFamily="34" charset="0"/>
                <a:ea typeface="Cambria" pitchFamily="34" charset="-122"/>
                <a:cs typeface="Cambria" pitchFamily="34" charset="-120"/>
              </a:rPr>
              <a:t>A machine can verify that the bytes it received are the bytes the record describes.</a:t>
            </a:r>
            <a:endParaRPr lang="en-US" sz="1900" dirty="0"/>
          </a:p>
        </p:txBody>
      </p:sp>
      <p:sp>
        <p:nvSpPr>
          <p:cNvPr id="21" name="Text 18"/>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A minimal waist: the np-FDO core</a:t>
            </a:r>
            <a:endParaRPr lang="en-US" sz="3000" dirty="0"/>
          </a:p>
        </p:txBody>
      </p:sp>
      <p:sp>
        <p:nvSpPr>
          <p:cNvPr id="4" name="Shape 1"/>
          <p:cNvSpPr/>
          <p:nvPr/>
        </p:nvSpPr>
        <p:spPr>
          <a:xfrm flipV="1">
            <a:off x="868680" y="1234440"/>
            <a:ext cx="4754880" cy="2240280"/>
          </a:xfrm>
          <a:prstGeom prst="triangle">
            <a:avLst/>
          </a:prstGeom>
          <a:solidFill>
            <a:srgbClr val="525C8D"/>
          </a:solidFill>
          <a:ln w="12700">
            <a:solidFill>
              <a:srgbClr val="525C8D"/>
            </a:solidFill>
            <a:prstDash val="solid"/>
          </a:ln>
        </p:spPr>
      </p:sp>
      <p:sp>
        <p:nvSpPr>
          <p:cNvPr id="5" name="Shape 2"/>
          <p:cNvSpPr/>
          <p:nvPr/>
        </p:nvSpPr>
        <p:spPr>
          <a:xfrm>
            <a:off x="868680" y="3520440"/>
            <a:ext cx="4754880" cy="2240280"/>
          </a:xfrm>
          <a:prstGeom prst="triangle">
            <a:avLst/>
          </a:prstGeom>
          <a:solidFill>
            <a:srgbClr val="525C8D"/>
          </a:solidFill>
          <a:ln w="12700">
            <a:solidFill>
              <a:srgbClr val="525C8D"/>
            </a:solidFill>
            <a:prstDash val="solid"/>
          </a:ln>
        </p:spPr>
      </p:sp>
      <p:sp>
        <p:nvSpPr>
          <p:cNvPr id="6" name="Shape 3"/>
          <p:cNvSpPr/>
          <p:nvPr/>
        </p:nvSpPr>
        <p:spPr>
          <a:xfrm>
            <a:off x="1920240" y="3246120"/>
            <a:ext cx="2651760" cy="530352"/>
          </a:xfrm>
          <a:prstGeom prst="roundRect">
            <a:avLst>
              <a:gd name="adj" fmla="val 17241"/>
            </a:avLst>
          </a:prstGeom>
          <a:solidFill>
            <a:srgbClr val="D97800"/>
          </a:solidFill>
          <a:ln w="12700">
            <a:solidFill>
              <a:srgbClr val="D97800"/>
            </a:solidFill>
            <a:prstDash val="solid"/>
          </a:ln>
        </p:spPr>
      </p:sp>
      <p:sp>
        <p:nvSpPr>
          <p:cNvPr id="7" name="Text 4"/>
          <p:cNvSpPr txBox="1"/>
          <p:nvPr/>
        </p:nvSpPr>
        <p:spPr>
          <a:xfrm>
            <a:off x="1920240" y="3246120"/>
            <a:ext cx="265176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np-FDO core v0.1</a:t>
            </a:r>
            <a:endParaRPr lang="en-US" sz="1600" dirty="0"/>
          </a:p>
        </p:txBody>
      </p:sp>
      <p:sp>
        <p:nvSpPr>
          <p:cNvPr id="8" name="Text 5"/>
          <p:cNvSpPr txBox="1"/>
          <p:nvPr/>
        </p:nvSpPr>
        <p:spPr>
          <a:xfrm>
            <a:off x="1691640" y="1371600"/>
            <a:ext cx="31089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Making objects</a:t>
            </a:r>
            <a:endParaRPr lang="en-US" sz="1700" dirty="0"/>
          </a:p>
        </p:txBody>
      </p:sp>
      <p:sp>
        <p:nvSpPr>
          <p:cNvPr id="9" name="Text 6"/>
          <p:cNvSpPr txBox="1"/>
          <p:nvPr/>
        </p:nvSpPr>
        <p:spPr>
          <a:xfrm>
            <a:off x="1691640" y="1737360"/>
            <a:ext cx="31089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people · instruments · AI agents</a:t>
            </a:r>
            <a:endParaRPr lang="en-US" sz="1300" dirty="0"/>
          </a:p>
        </p:txBody>
      </p:sp>
      <p:sp>
        <p:nvSpPr>
          <p:cNvPr id="10" name="Text 7"/>
          <p:cNvSpPr txBox="1"/>
          <p:nvPr/>
        </p:nvSpPr>
        <p:spPr>
          <a:xfrm>
            <a:off x="2148840" y="2103120"/>
            <a:ext cx="2194560" cy="274320"/>
          </a:xfrm>
          <a:prstGeom prst="rect">
            <a:avLst/>
          </a:prstGeom>
          <a:noFill/>
          <a:ln/>
        </p:spPr>
        <p:txBody>
          <a:bodyPr wrap="square" lIns="0" tIns="0" rIns="0" bIns="0" rtlCol="0" anchor="ctr"/>
          <a:lstStyle/>
          <a:p>
            <a:pPr algn="ctr" indent="0" marL="0">
              <a:buNone/>
            </a:pPr>
            <a:r>
              <a:rPr lang="en-US" sz="1200" i="1" dirty="0">
                <a:solidFill>
                  <a:srgbClr val="DDE1F0"/>
                </a:solidFill>
                <a:latin typeface="Calibri" pitchFamily="34" charset="0"/>
                <a:ea typeface="Calibri" pitchFamily="34" charset="-122"/>
                <a:cs typeface="Calibri" pitchFamily="34" charset="-120"/>
              </a:rPr>
              <a:t>FAIRification</a:t>
            </a:r>
            <a:endParaRPr lang="en-US" sz="1200" dirty="0"/>
          </a:p>
        </p:txBody>
      </p:sp>
      <p:sp>
        <p:nvSpPr>
          <p:cNvPr id="11" name="Text 8"/>
          <p:cNvSpPr txBox="1"/>
          <p:nvPr/>
        </p:nvSpPr>
        <p:spPr>
          <a:xfrm>
            <a:off x="2148840" y="4526280"/>
            <a:ext cx="2194560" cy="274320"/>
          </a:xfrm>
          <a:prstGeom prst="rect">
            <a:avLst/>
          </a:prstGeom>
          <a:noFill/>
          <a:ln/>
        </p:spPr>
        <p:txBody>
          <a:bodyPr wrap="square" lIns="0" tIns="0" rIns="0" bIns="0" rtlCol="0" anchor="ctr"/>
          <a:lstStyle/>
          <a:p>
            <a:pPr algn="ctr" indent="0" marL="0">
              <a:buNone/>
            </a:pPr>
            <a:r>
              <a:rPr lang="en-US" sz="1200" i="1" dirty="0">
                <a:solidFill>
                  <a:srgbClr val="DDE1F0"/>
                </a:solidFill>
                <a:latin typeface="Calibri" pitchFamily="34" charset="0"/>
                <a:ea typeface="Calibri" pitchFamily="34" charset="-122"/>
                <a:cs typeface="Calibri" pitchFamily="34" charset="-120"/>
              </a:rPr>
              <a:t>FAIR Orchestration</a:t>
            </a:r>
            <a:endParaRPr lang="en-US" sz="1200" dirty="0"/>
          </a:p>
        </p:txBody>
      </p:sp>
      <p:sp>
        <p:nvSpPr>
          <p:cNvPr id="12" name="Text 9"/>
          <p:cNvSpPr txBox="1"/>
          <p:nvPr/>
        </p:nvSpPr>
        <p:spPr>
          <a:xfrm>
            <a:off x="1691640" y="4846320"/>
            <a:ext cx="310896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agents · pipelines · registries</a:t>
            </a:r>
            <a:endParaRPr lang="en-US" sz="1300" dirty="0"/>
          </a:p>
        </p:txBody>
      </p:sp>
      <p:sp>
        <p:nvSpPr>
          <p:cNvPr id="13" name="Text 10"/>
          <p:cNvSpPr txBox="1"/>
          <p:nvPr/>
        </p:nvSpPr>
        <p:spPr>
          <a:xfrm>
            <a:off x="1691640" y="5166360"/>
            <a:ext cx="31089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Using objects</a:t>
            </a:r>
            <a:endParaRPr lang="en-US" sz="1700" dirty="0"/>
          </a:p>
        </p:txBody>
      </p:sp>
      <p:sp>
        <p:nvSpPr>
          <p:cNvPr id="14" name="Text 11"/>
          <p:cNvSpPr txBox="1"/>
          <p:nvPr/>
        </p:nvSpPr>
        <p:spPr>
          <a:xfrm>
            <a:off x="6400800" y="1325880"/>
            <a:ext cx="5257800" cy="1234440"/>
          </a:xfrm>
          <a:prstGeom prst="rect">
            <a:avLst/>
          </a:prstGeom>
          <a:noFill/>
          <a:ln/>
        </p:spPr>
        <p:txBody>
          <a:bodyPr wrap="square" lIns="0" tIns="0" rIns="0" bIns="0" rtlCol="0" anchor="t"/>
          <a:lstStyle/>
          <a:p>
            <a:pPr indent="0" marL="0">
              <a:spcAft>
                <a:spcPts val="800"/>
              </a:spcAft>
              <a:buNone/>
            </a:pPr>
            <a:r>
              <a:rPr lang="en-US" sz="1600" b="1" dirty="0">
                <a:solidFill>
                  <a:srgbClr val="1B2A4E"/>
                </a:solidFill>
                <a:latin typeface="Calibri" pitchFamily="34" charset="0"/>
                <a:ea typeface="Calibri" pitchFamily="34" charset="-122"/>
                <a:cs typeface="Calibri" pitchFamily="34" charset="-120"/>
              </a:rPr>
              <a:t>Six unconditional constraints: </a:t>
            </a:r>
            <a:pPr indent="0" marL="0">
              <a:spcAft>
                <a:spcPts val="800"/>
              </a:spcAft>
              <a:buNone/>
            </a:pPr>
            <a:r>
              <a:rPr lang="en-US" sz="1600" dirty="0">
                <a:solidFill>
                  <a:srgbClr val="22252E"/>
                </a:solidFill>
                <a:latin typeface="Calibri" pitchFamily="34" charset="0"/>
                <a:ea typeface="Calibri" pitchFamily="34" charset="-122"/>
                <a:cs typeface="Calibri" pitchFamily="34" charset="-120"/>
              </a:rPr>
              <a:t>C1 type · C2 label · C3 attribution · C4 marker · C5 identity link · C6 conforms to</a:t>
            </a:r>
            <a:endParaRPr lang="en-US" sz="1600" dirty="0"/>
          </a:p>
          <a:p>
            <a:pPr indent="0" marL="0">
              <a:spcAft>
                <a:spcPts val="800"/>
              </a:spcAft>
              <a:buNone/>
            </a:pPr>
            <a:r>
              <a:rPr lang="en-US" sz="1600" b="1" dirty="0">
                <a:solidFill>
                  <a:srgbClr val="1B2A4E"/>
                </a:solidFill>
                <a:latin typeface="Calibri" pitchFamily="34" charset="0"/>
                <a:ea typeface="Calibri" pitchFamily="34" charset="-122"/>
                <a:cs typeface="Calibri" pitchFamily="34" charset="-120"/>
              </a:rPr>
              <a:t>Plus one per materialisation: </a:t>
            </a:r>
            <a:pPr indent="0" marL="0">
              <a:spcAft>
                <a:spcPts val="800"/>
              </a:spcAft>
              <a:buNone/>
            </a:pPr>
            <a:r>
              <a:rPr lang="en-US" sz="1600" dirty="0">
                <a:solidFill>
                  <a:srgbClr val="22252E"/>
                </a:solidFill>
                <a:latin typeface="Calibri" pitchFamily="34" charset="0"/>
                <a:ea typeface="Calibri" pitchFamily="34" charset="-122"/>
                <a:cs typeface="Calibri" pitchFamily="34" charset="-120"/>
              </a:rPr>
              <a:t>M1 conditions of use (licence)</a:t>
            </a:r>
            <a:endParaRPr lang="en-US" sz="1600" dirty="0"/>
          </a:p>
        </p:txBody>
      </p:sp>
      <p:sp>
        <p:nvSpPr>
          <p:cNvPr id="15" name="Text 12"/>
          <p:cNvSpPr txBox="1"/>
          <p:nvPr/>
        </p:nvSpPr>
        <p:spPr>
          <a:xfrm>
            <a:off x="6400800" y="2697480"/>
            <a:ext cx="52578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Reuse first: no new predicates; three classes minted</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One generic template; the object type is a controlled value</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Designed to be carrier-neutral; implemented first on nanopublications</a:t>
            </a:r>
            <a:endParaRPr lang="en-US" sz="1500" dirty="0"/>
          </a:p>
          <a:p>
            <a:pPr marL="342900" indent="-342900">
              <a:spcAft>
                <a:spcPts val="600"/>
              </a:spcAft>
              <a:buSzPct val="100000"/>
              <a:buChar char="•"/>
            </a:pPr>
            <a:r>
              <a:rPr lang="en-US" sz="1500" dirty="0">
                <a:solidFill>
                  <a:srgbClr val="22252E"/>
                </a:solidFill>
                <a:latin typeface="Calibri" pitchFamily="34" charset="0"/>
                <a:ea typeface="Calibri" pitchFamily="34" charset="-122"/>
                <a:cs typeface="Calibri" pitchFamily="34" charset="-120"/>
              </a:rPr>
              <a:t>Open, CC BY 4.0. Not yet: validation shapes</a:t>
            </a:r>
            <a:endParaRPr lang="en-US" sz="1500" dirty="0"/>
          </a:p>
        </p:txBody>
      </p:sp>
      <p:sp>
        <p:nvSpPr>
          <p:cNvPr id="16" name="Shape 13"/>
          <p:cNvSpPr/>
          <p:nvPr/>
        </p:nvSpPr>
        <p:spPr>
          <a:xfrm>
            <a:off x="6400800" y="4526280"/>
            <a:ext cx="5257800" cy="1005840"/>
          </a:xfrm>
          <a:prstGeom prst="rect">
            <a:avLst/>
          </a:prstGeom>
          <a:solidFill>
            <a:srgbClr val="EEF0F6"/>
          </a:solidFill>
          <a:ln w="12700">
            <a:solidFill>
              <a:srgbClr val="EEF0F6"/>
            </a:solidFill>
            <a:prstDash val="solid"/>
          </a:ln>
        </p:spPr>
      </p:sp>
      <p:sp>
        <p:nvSpPr>
          <p:cNvPr id="17" name="Text 14"/>
          <p:cNvSpPr txBox="1"/>
          <p:nvPr/>
        </p:nvSpPr>
        <p:spPr>
          <a:xfrm>
            <a:off x="6583680" y="4572000"/>
            <a:ext cx="4892040" cy="914400"/>
          </a:xfrm>
          <a:prstGeom prst="rect">
            <a:avLst/>
          </a:prstGeom>
          <a:noFill/>
          <a:ln/>
        </p:spPr>
        <p:txBody>
          <a:bodyPr wrap="square" lIns="0" tIns="0" rIns="0" bIns="0" rtlCol="0" anchor="ctr"/>
          <a:lstStyle/>
          <a:p>
            <a:pPr indent="0" marL="0">
              <a:buNone/>
            </a:pPr>
            <a:r>
              <a:rPr lang="en-US" sz="1600" i="1" dirty="0">
                <a:solidFill>
                  <a:srgbClr val="1B2A4E"/>
                </a:solidFill>
                <a:latin typeface="Cambria" pitchFamily="34" charset="0"/>
                <a:ea typeface="Cambria" pitchFamily="34" charset="-122"/>
                <a:cs typeface="Cambria" pitchFamily="34" charset="-120"/>
              </a:rPr>
              <a:t>AI appears twice: making objects at the top, using them at the bottom. Both pass through the same waist.</a:t>
            </a:r>
            <a:endParaRPr lang="en-US" sz="1600" dirty="0"/>
          </a:p>
        </p:txBody>
      </p:sp>
      <p:sp>
        <p:nvSpPr>
          <p:cNvPr id="18" name="Text 15"/>
          <p:cNvSpPr txBox="1"/>
          <p:nvPr/>
        </p:nvSpPr>
        <p:spPr>
          <a:xfrm>
            <a:off x="6400800" y="5760720"/>
            <a:ext cx="5257800" cy="274320"/>
          </a:xfrm>
          <a:prstGeom prst="rect">
            <a:avLst/>
          </a:prstGeom>
          <a:noFill/>
          <a:ln/>
        </p:spPr>
        <p:txBody>
          <a:bodyPr wrap="square" lIns="0" tIns="0" rIns="0" bIns="0" rtlCol="0" anchor="ctr"/>
          <a:lstStyle/>
          <a:p>
            <a:pPr indent="0" marL="0">
              <a:buNone/>
            </a:pPr>
            <a:r>
              <a:rPr lang="en-US" sz="1100" dirty="0">
                <a:solidFill>
                  <a:srgbClr val="5A5F6E"/>
                </a:solidFill>
                <a:latin typeface="Calibri" pitchFamily="34" charset="0"/>
                <a:ea typeface="Calibri" pitchFamily="34" charset="-122"/>
                <a:cs typeface="Calibri" pitchFamily="34" charset="-120"/>
              </a:rPr>
              <a:t>FAIR Hourglass: Schultes, FAIR Connect 1 (2023) 13–17.</a:t>
            </a:r>
            <a:endParaRPr lang="en-US" sz="1100" dirty="0"/>
          </a:p>
        </p:txBody>
      </p:sp>
      <p:sp>
        <p:nvSpPr>
          <p:cNvPr id="19" name="Text 16"/>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What becomes an FDO: three kinds of object</a:t>
            </a:r>
            <a:endParaRPr lang="en-US" sz="3000" dirty="0"/>
          </a:p>
        </p:txBody>
      </p:sp>
      <p:sp>
        <p:nvSpPr>
          <p:cNvPr id="4" name="Shape 1"/>
          <p:cNvSpPr/>
          <p:nvPr/>
        </p:nvSpPr>
        <p:spPr>
          <a:xfrm>
            <a:off x="822960" y="1280160"/>
            <a:ext cx="3063240" cy="3429000"/>
          </a:xfrm>
          <a:prstGeom prst="rect">
            <a:avLst/>
          </a:prstGeom>
          <a:solidFill>
            <a:srgbClr val="EEF0F6"/>
          </a:solidFill>
          <a:ln w="12700">
            <a:solidFill>
              <a:srgbClr val="EEF0F6"/>
            </a:solidFill>
            <a:prstDash val="solid"/>
          </a:ln>
        </p:spPr>
      </p:sp>
      <p:sp>
        <p:nvSpPr>
          <p:cNvPr id="5" name="Shape 2"/>
          <p:cNvSpPr/>
          <p:nvPr/>
        </p:nvSpPr>
        <p:spPr>
          <a:xfrm>
            <a:off x="1051560" y="1463040"/>
            <a:ext cx="2606040" cy="457200"/>
          </a:xfrm>
          <a:prstGeom prst="roundRect">
            <a:avLst>
              <a:gd name="adj" fmla="val 16000"/>
            </a:avLst>
          </a:prstGeom>
          <a:solidFill>
            <a:srgbClr val="525C8D"/>
          </a:solidFill>
          <a:ln w="12700">
            <a:solidFill>
              <a:srgbClr val="525C8D"/>
            </a:solidFill>
            <a:prstDash val="solid"/>
          </a:ln>
        </p:spPr>
      </p:sp>
      <p:sp>
        <p:nvSpPr>
          <p:cNvPr id="6" name="Text 3"/>
          <p:cNvSpPr txBox="1"/>
          <p:nvPr/>
        </p:nvSpPr>
        <p:spPr>
          <a:xfrm>
            <a:off x="1051560" y="14630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Epistemic</a:t>
            </a:r>
            <a:endParaRPr lang="en-US" sz="1800" dirty="0"/>
          </a:p>
        </p:txBody>
      </p:sp>
      <p:sp>
        <p:nvSpPr>
          <p:cNvPr id="7" name="Text 4"/>
          <p:cNvSpPr txBox="1"/>
          <p:nvPr/>
        </p:nvSpPr>
        <p:spPr>
          <a:xfrm>
            <a:off x="1051560" y="2011680"/>
            <a:ext cx="2606040" cy="365760"/>
          </a:xfrm>
          <a:prstGeom prst="rect">
            <a:avLst/>
          </a:prstGeom>
          <a:noFill/>
          <a:ln/>
        </p:spPr>
        <p:txBody>
          <a:bodyPr wrap="square" lIns="0" tIns="0" rIns="0" bIns="0" rtlCol="0" anchor="ctr"/>
          <a:lstStyle/>
          <a:p>
            <a:pPr algn="ctr" indent="0" marL="0">
              <a:buNone/>
            </a:pPr>
            <a:r>
              <a:rPr lang="en-US" sz="1700" i="1" dirty="0">
                <a:solidFill>
                  <a:srgbClr val="1B2A4E"/>
                </a:solidFill>
                <a:latin typeface="Cambria" pitchFamily="34" charset="0"/>
                <a:ea typeface="Cambria" pitchFamily="34" charset="-122"/>
                <a:cs typeface="Cambria" pitchFamily="34" charset="-120"/>
              </a:rPr>
              <a:t>What is the case?</a:t>
            </a:r>
            <a:endParaRPr lang="en-US" sz="1700" dirty="0"/>
          </a:p>
        </p:txBody>
      </p:sp>
      <p:sp>
        <p:nvSpPr>
          <p:cNvPr id="8" name="Text 5"/>
          <p:cNvSpPr txBox="1"/>
          <p:nvPr/>
        </p:nvSpPr>
        <p:spPr>
          <a:xfrm>
            <a:off x="1051560" y="2377440"/>
            <a:ext cx="2606040" cy="502920"/>
          </a:xfrm>
          <a:prstGeom prst="rect">
            <a:avLst/>
          </a:prstGeom>
          <a:noFill/>
          <a:ln/>
        </p:spPr>
        <p:txBody>
          <a:bodyPr wrap="square" lIns="0" tIns="0" rIns="0" bIns="0" rtlCol="0" anchor="t"/>
          <a:lstStyle/>
          <a:p>
            <a:pPr algn="ctr" indent="0" marL="0">
              <a:buNone/>
            </a:pPr>
            <a:r>
              <a:rPr lang="en-US" sz="1200" dirty="0">
                <a:solidFill>
                  <a:srgbClr val="5A5F6E"/>
                </a:solidFill>
                <a:latin typeface="Calibri" pitchFamily="34" charset="0"/>
                <a:ea typeface="Calibri" pitchFamily="34" charset="-122"/>
                <a:cs typeface="Calibri" pitchFamily="34" charset="-120"/>
              </a:rPr>
              <a:t>Tested against evidence; can be false</a:t>
            </a:r>
            <a:endParaRPr lang="en-US" sz="1200" dirty="0"/>
          </a:p>
        </p:txBody>
      </p:sp>
      <p:sp>
        <p:nvSpPr>
          <p:cNvPr id="9" name="Text 6"/>
          <p:cNvSpPr txBox="1"/>
          <p:nvPr/>
        </p:nvSpPr>
        <p:spPr>
          <a:xfrm>
            <a:off x="1097280"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Dataset (an LC-MS run)</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Assay or analysis result</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 scientific claim</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Slide deck (type minted at v0.1)</a:t>
            </a:r>
            <a:endParaRPr lang="en-US" sz="1400" dirty="0"/>
          </a:p>
        </p:txBody>
      </p:sp>
      <p:sp>
        <p:nvSpPr>
          <p:cNvPr id="10" name="Shape 7"/>
          <p:cNvSpPr/>
          <p:nvPr/>
        </p:nvSpPr>
        <p:spPr>
          <a:xfrm>
            <a:off x="4562856" y="1280160"/>
            <a:ext cx="3063240" cy="3429000"/>
          </a:xfrm>
          <a:prstGeom prst="rect">
            <a:avLst/>
          </a:prstGeom>
          <a:solidFill>
            <a:srgbClr val="EEF0F6"/>
          </a:solidFill>
          <a:ln w="12700">
            <a:solidFill>
              <a:srgbClr val="EEF0F6"/>
            </a:solidFill>
            <a:prstDash val="solid"/>
          </a:ln>
        </p:spPr>
      </p:sp>
      <p:sp>
        <p:nvSpPr>
          <p:cNvPr id="11" name="Shape 8"/>
          <p:cNvSpPr/>
          <p:nvPr/>
        </p:nvSpPr>
        <p:spPr>
          <a:xfrm>
            <a:off x="4791456" y="1463040"/>
            <a:ext cx="2606040" cy="457200"/>
          </a:xfrm>
          <a:prstGeom prst="roundRect">
            <a:avLst>
              <a:gd name="adj" fmla="val 16000"/>
            </a:avLst>
          </a:prstGeom>
          <a:solidFill>
            <a:srgbClr val="8E1B0E"/>
          </a:solidFill>
          <a:ln w="12700">
            <a:solidFill>
              <a:srgbClr val="8E1B0E"/>
            </a:solidFill>
            <a:prstDash val="solid"/>
          </a:ln>
        </p:spPr>
      </p:sp>
      <p:sp>
        <p:nvSpPr>
          <p:cNvPr id="12" name="Text 9"/>
          <p:cNvSpPr txBox="1"/>
          <p:nvPr/>
        </p:nvSpPr>
        <p:spPr>
          <a:xfrm>
            <a:off x="4791456" y="14630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Deontic</a:t>
            </a:r>
            <a:endParaRPr lang="en-US" sz="1800" dirty="0"/>
          </a:p>
        </p:txBody>
      </p:sp>
      <p:sp>
        <p:nvSpPr>
          <p:cNvPr id="13" name="Text 10"/>
          <p:cNvSpPr txBox="1"/>
          <p:nvPr/>
        </p:nvSpPr>
        <p:spPr>
          <a:xfrm>
            <a:off x="4791456" y="2011680"/>
            <a:ext cx="2606040" cy="365760"/>
          </a:xfrm>
          <a:prstGeom prst="rect">
            <a:avLst/>
          </a:prstGeom>
          <a:noFill/>
          <a:ln/>
        </p:spPr>
        <p:txBody>
          <a:bodyPr wrap="square" lIns="0" tIns="0" rIns="0" bIns="0" rtlCol="0" anchor="ctr"/>
          <a:lstStyle/>
          <a:p>
            <a:pPr algn="ctr" indent="0" marL="0">
              <a:buNone/>
            </a:pPr>
            <a:r>
              <a:rPr lang="en-US" sz="1700" i="1" dirty="0">
                <a:solidFill>
                  <a:srgbClr val="1B2A4E"/>
                </a:solidFill>
                <a:latin typeface="Cambria" pitchFamily="34" charset="0"/>
                <a:ea typeface="Cambria" pitchFamily="34" charset="-122"/>
                <a:cs typeface="Cambria" pitchFamily="34" charset="-120"/>
              </a:rPr>
              <a:t>What is permitted?</a:t>
            </a:r>
            <a:endParaRPr lang="en-US" sz="1700" dirty="0"/>
          </a:p>
        </p:txBody>
      </p:sp>
      <p:sp>
        <p:nvSpPr>
          <p:cNvPr id="14" name="Text 11"/>
          <p:cNvSpPr txBox="1"/>
          <p:nvPr/>
        </p:nvSpPr>
        <p:spPr>
          <a:xfrm>
            <a:off x="4791456" y="2377440"/>
            <a:ext cx="2606040" cy="502920"/>
          </a:xfrm>
          <a:prstGeom prst="rect">
            <a:avLst/>
          </a:prstGeom>
          <a:noFill/>
          <a:ln/>
        </p:spPr>
        <p:txBody>
          <a:bodyPr wrap="square" lIns="0" tIns="0" rIns="0" bIns="0" rtlCol="0" anchor="t"/>
          <a:lstStyle/>
          <a:p>
            <a:pPr algn="ctr" indent="0" marL="0">
              <a:buNone/>
            </a:pPr>
            <a:r>
              <a:rPr lang="en-US" sz="1200" dirty="0">
                <a:solidFill>
                  <a:srgbClr val="5A5F6E"/>
                </a:solidFill>
                <a:latin typeface="Calibri" pitchFamily="34" charset="0"/>
                <a:ea typeface="Calibri" pitchFamily="34" charset="-122"/>
                <a:cs typeface="Calibri" pitchFamily="34" charset="-120"/>
              </a:rPr>
              <a:t>Tested against authority and procedure; can be invalid, not false</a:t>
            </a:r>
            <a:endParaRPr lang="en-US" sz="1200" dirty="0"/>
          </a:p>
        </p:txBody>
      </p:sp>
      <p:sp>
        <p:nvSpPr>
          <p:cNvPr id="15" name="Text 12"/>
          <p:cNvSpPr txBox="1"/>
          <p:nvPr/>
        </p:nvSpPr>
        <p:spPr>
          <a:xfrm>
            <a:off x="4837176"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Licence</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Access or use policy</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Informed-consent terms</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Data-use agreement</a:t>
            </a:r>
            <a:endParaRPr lang="en-US" sz="1400" dirty="0"/>
          </a:p>
        </p:txBody>
      </p:sp>
      <p:sp>
        <p:nvSpPr>
          <p:cNvPr id="16" name="Shape 13"/>
          <p:cNvSpPr/>
          <p:nvPr/>
        </p:nvSpPr>
        <p:spPr>
          <a:xfrm>
            <a:off x="8302752" y="1280160"/>
            <a:ext cx="3063240" cy="3429000"/>
          </a:xfrm>
          <a:prstGeom prst="rect">
            <a:avLst/>
          </a:prstGeom>
          <a:solidFill>
            <a:srgbClr val="EEF0F6"/>
          </a:solidFill>
          <a:ln w="12700">
            <a:solidFill>
              <a:srgbClr val="EEF0F6"/>
            </a:solidFill>
            <a:prstDash val="solid"/>
          </a:ln>
        </p:spPr>
      </p:sp>
      <p:sp>
        <p:nvSpPr>
          <p:cNvPr id="17" name="Shape 14"/>
          <p:cNvSpPr/>
          <p:nvPr/>
        </p:nvSpPr>
        <p:spPr>
          <a:xfrm>
            <a:off x="8531352" y="1463040"/>
            <a:ext cx="2606040" cy="457200"/>
          </a:xfrm>
          <a:prstGeom prst="roundRect">
            <a:avLst>
              <a:gd name="adj" fmla="val 16000"/>
            </a:avLst>
          </a:prstGeom>
          <a:solidFill>
            <a:srgbClr val="0D4C77"/>
          </a:solidFill>
          <a:ln w="12700">
            <a:solidFill>
              <a:srgbClr val="0D4C77"/>
            </a:solidFill>
            <a:prstDash val="solid"/>
          </a:ln>
        </p:spPr>
      </p:sp>
      <p:sp>
        <p:nvSpPr>
          <p:cNvPr id="18" name="Text 15"/>
          <p:cNvSpPr txBox="1"/>
          <p:nvPr/>
        </p:nvSpPr>
        <p:spPr>
          <a:xfrm>
            <a:off x="8531352" y="14630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Agentic</a:t>
            </a:r>
            <a:endParaRPr lang="en-US" sz="1800" dirty="0"/>
          </a:p>
        </p:txBody>
      </p:sp>
      <p:sp>
        <p:nvSpPr>
          <p:cNvPr id="19" name="Text 16"/>
          <p:cNvSpPr txBox="1"/>
          <p:nvPr/>
        </p:nvSpPr>
        <p:spPr>
          <a:xfrm>
            <a:off x="8531352" y="2011680"/>
            <a:ext cx="2606040" cy="365760"/>
          </a:xfrm>
          <a:prstGeom prst="rect">
            <a:avLst/>
          </a:prstGeom>
          <a:noFill/>
          <a:ln/>
        </p:spPr>
        <p:txBody>
          <a:bodyPr wrap="square" lIns="0" tIns="0" rIns="0" bIns="0" rtlCol="0" anchor="ctr"/>
          <a:lstStyle/>
          <a:p>
            <a:pPr algn="ctr" indent="0" marL="0">
              <a:buNone/>
            </a:pPr>
            <a:r>
              <a:rPr lang="en-US" sz="1700" i="1" dirty="0">
                <a:solidFill>
                  <a:srgbClr val="1B2A4E"/>
                </a:solidFill>
                <a:latin typeface="Cambria" pitchFamily="34" charset="0"/>
                <a:ea typeface="Cambria" pitchFamily="34" charset="-122"/>
                <a:cs typeface="Cambria" pitchFamily="34" charset="-120"/>
              </a:rPr>
              <a:t>What can be done?</a:t>
            </a:r>
            <a:endParaRPr lang="en-US" sz="1700" dirty="0"/>
          </a:p>
        </p:txBody>
      </p:sp>
      <p:sp>
        <p:nvSpPr>
          <p:cNvPr id="20" name="Text 17"/>
          <p:cNvSpPr txBox="1"/>
          <p:nvPr/>
        </p:nvSpPr>
        <p:spPr>
          <a:xfrm>
            <a:off x="8531352" y="2377440"/>
            <a:ext cx="2606040" cy="502920"/>
          </a:xfrm>
          <a:prstGeom prst="rect">
            <a:avLst/>
          </a:prstGeom>
          <a:noFill/>
          <a:ln/>
        </p:spPr>
        <p:txBody>
          <a:bodyPr wrap="square" lIns="0" tIns="0" rIns="0" bIns="0" rtlCol="0" anchor="t"/>
          <a:lstStyle/>
          <a:p>
            <a:pPr algn="ctr" indent="0" marL="0">
              <a:buNone/>
            </a:pPr>
            <a:r>
              <a:rPr lang="en-US" sz="1200" dirty="0">
                <a:solidFill>
                  <a:srgbClr val="5A5F6E"/>
                </a:solidFill>
                <a:latin typeface="Calibri" pitchFamily="34" charset="0"/>
                <a:ea typeface="Calibri" pitchFamily="34" charset="-122"/>
                <a:cs typeface="Calibri" pitchFamily="34" charset="-120"/>
              </a:rPr>
              <a:t>Tested by execution</a:t>
            </a:r>
            <a:endParaRPr lang="en-US" sz="1200" dirty="0"/>
          </a:p>
        </p:txBody>
      </p:sp>
      <p:sp>
        <p:nvSpPr>
          <p:cNvPr id="21" name="Text 18"/>
          <p:cNvSpPr txBox="1"/>
          <p:nvPr/>
        </p:nvSpPr>
        <p:spPr>
          <a:xfrm>
            <a:off x="8577072" y="2971800"/>
            <a:ext cx="2560320" cy="16459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Skill (type minted at v0.1)</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Analysis workflow</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Standard operating procedure</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Service or endpoint</a:t>
            </a:r>
            <a:endParaRPr lang="en-US" sz="1400" dirty="0"/>
          </a:p>
        </p:txBody>
      </p:sp>
      <p:sp>
        <p:nvSpPr>
          <p:cNvPr id="22" name="Text 19"/>
          <p:cNvSpPr txBox="1"/>
          <p:nvPr/>
        </p:nvSpPr>
        <p:spPr>
          <a:xfrm>
            <a:off x="822960" y="4892040"/>
            <a:ext cx="10543032" cy="685800"/>
          </a:xfrm>
          <a:prstGeom prst="rect">
            <a:avLst/>
          </a:prstGeom>
          <a:noFill/>
          <a:ln/>
        </p:spPr>
        <p:txBody>
          <a:bodyPr wrap="square" lIns="0" tIns="0" rIns="0" bIns="0" rtlCol="0" anchor="ctr"/>
          <a:lstStyle/>
          <a:p>
            <a:pPr indent="0" marL="0">
              <a:buNone/>
            </a:pPr>
            <a:r>
              <a:rPr lang="en-US" sz="1500" b="1" dirty="0">
                <a:solidFill>
                  <a:srgbClr val="1B2A4E"/>
                </a:solidFill>
                <a:latin typeface="Calibri" pitchFamily="34" charset="0"/>
                <a:ea typeface="Calibri" pitchFamily="34" charset="-122"/>
                <a:cs typeface="Calibri" pitchFamily="34" charset="-120"/>
              </a:rPr>
              <a:t>The record itself stays epistemic: </a:t>
            </a:r>
            <a:pPr indent="0" marL="0">
              <a:buNone/>
            </a:pPr>
            <a:r>
              <a:rPr lang="en-US" sz="1500" dirty="0">
                <a:solidFill>
                  <a:srgbClr val="22252E"/>
                </a:solidFill>
                <a:latin typeface="Calibri" pitchFamily="34" charset="0"/>
                <a:ea typeface="Calibri" pitchFamily="34" charset="-122"/>
                <a:cs typeface="Calibri" pitchFamily="34" charset="-120"/>
              </a:rPr>
              <a:t>it states facts about the object and reaches permissions and procedures only by reference to typed objects. Resolving the type tells an agent which kind of statement it is handling.</a:t>
            </a:r>
            <a:endParaRPr lang="en-US" sz="1500" dirty="0"/>
          </a:p>
        </p:txBody>
      </p:sp>
      <p:sp>
        <p:nvSpPr>
          <p:cNvPr id="23" name="Text 20"/>
          <p:cNvSpPr txBox="1"/>
          <p:nvPr/>
        </p:nvSpPr>
        <p:spPr>
          <a:xfrm>
            <a:off x="822960" y="5715000"/>
            <a:ext cx="10543032" cy="274320"/>
          </a:xfrm>
          <a:prstGeom prst="rect">
            <a:avLst/>
          </a:prstGeom>
          <a:noFill/>
          <a:ln/>
        </p:spPr>
        <p:txBody>
          <a:bodyPr wrap="square" lIns="0" tIns="0" rIns="0" bIns="0" rtlCol="0" anchor="ctr"/>
          <a:lstStyle/>
          <a:p>
            <a:pPr indent="0" marL="0">
              <a:buNone/>
            </a:pPr>
            <a:r>
              <a:rPr lang="en-US" sz="1100" dirty="0">
                <a:solidFill>
                  <a:srgbClr val="5A5F6E"/>
                </a:solidFill>
                <a:latin typeface="Calibri" pitchFamily="34" charset="0"/>
                <a:ea typeface="Calibri" pitchFamily="34" charset="-122"/>
                <a:cs typeface="Calibri" pitchFamily="34" charset="-120"/>
              </a:rPr>
              <a:t>Specification design decision D20. The designation of types by kind is a proposal for the type catalogue, not part of core v0.1.</a:t>
            </a:r>
            <a:endParaRPr lang="en-US" sz="1100" dirty="0"/>
          </a:p>
        </p:txBody>
      </p:sp>
      <p:sp>
        <p:nvSpPr>
          <p:cNvPr id="24" name="Text 21"/>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Evidence: the v0.1 corpus on the public network</a:t>
            </a:r>
            <a:endParaRPr lang="en-US" sz="3000" dirty="0"/>
          </a:p>
        </p:txBody>
      </p:sp>
      <p:sp>
        <p:nvSpPr>
          <p:cNvPr id="4" name="Shape 1"/>
          <p:cNvSpPr/>
          <p:nvPr/>
        </p:nvSpPr>
        <p:spPr>
          <a:xfrm>
            <a:off x="822960" y="1371600"/>
            <a:ext cx="3063240" cy="2606040"/>
          </a:xfrm>
          <a:prstGeom prst="rect">
            <a:avLst/>
          </a:prstGeom>
          <a:solidFill>
            <a:srgbClr val="EEF0F6"/>
          </a:solidFill>
          <a:ln w="12700">
            <a:solidFill>
              <a:srgbClr val="EEF0F6"/>
            </a:solidFill>
            <a:prstDash val="solid"/>
          </a:ln>
        </p:spPr>
      </p:sp>
      <p:sp>
        <p:nvSpPr>
          <p:cNvPr id="5" name="Text 2"/>
          <p:cNvSpPr txBox="1"/>
          <p:nvPr/>
        </p:nvSpPr>
        <p:spPr>
          <a:xfrm>
            <a:off x="822960" y="1463040"/>
            <a:ext cx="3063240" cy="1005840"/>
          </a:xfrm>
          <a:prstGeom prst="rect">
            <a:avLst/>
          </a:prstGeom>
          <a:noFill/>
          <a:ln/>
        </p:spPr>
        <p:txBody>
          <a:bodyPr wrap="square" lIns="0" tIns="0" rIns="0" bIns="0" rtlCol="0" anchor="ctr"/>
          <a:lstStyle/>
          <a:p>
            <a:pPr algn="ctr" indent="0" marL="0">
              <a:buNone/>
            </a:pPr>
            <a:r>
              <a:rPr lang="en-US" sz="6000" b="1" dirty="0">
                <a:solidFill>
                  <a:srgbClr val="525C8D"/>
                </a:solidFill>
                <a:latin typeface="Cambria" pitchFamily="34" charset="0"/>
                <a:ea typeface="Cambria" pitchFamily="34" charset="-122"/>
                <a:cs typeface="Cambria" pitchFamily="34" charset="-120"/>
              </a:rPr>
              <a:t>8</a:t>
            </a:r>
            <a:endParaRPr lang="en-US" sz="6000" dirty="0"/>
          </a:p>
        </p:txBody>
      </p:sp>
      <p:sp>
        <p:nvSpPr>
          <p:cNvPr id="6" name="Text 3"/>
          <p:cNvSpPr txBox="1"/>
          <p:nvPr/>
        </p:nvSpPr>
        <p:spPr>
          <a:xfrm>
            <a:off x="1051560" y="2514600"/>
            <a:ext cx="2606040" cy="1371600"/>
          </a:xfrm>
          <a:prstGeom prst="rect">
            <a:avLst/>
          </a:prstGeom>
          <a:noFill/>
          <a:ln/>
        </p:spPr>
        <p:txBody>
          <a:bodyPr wrap="square" lIns="0" tIns="0" rIns="0" bIns="0" rtlCol="0" anchor="t"/>
          <a:lstStyle/>
          <a:p>
            <a:pPr algn="ctr" indent="0" marL="0">
              <a:buNone/>
            </a:pPr>
            <a:r>
              <a:rPr lang="en-US" sz="1400" dirty="0">
                <a:solidFill>
                  <a:srgbClr val="22252E"/>
                </a:solidFill>
                <a:latin typeface="Calibri" pitchFamily="34" charset="0"/>
                <a:ea typeface="Calibri" pitchFamily="34" charset="-122"/>
                <a:cs typeface="Calibri" pitchFamily="34" charset="-120"/>
              </a:rPr>
              <a:t>records published, 27 September 2026: the specification, two templates, an example, three vocabulary terms, and this symposium</a:t>
            </a:r>
            <a:endParaRPr lang="en-US" sz="1400" dirty="0"/>
          </a:p>
        </p:txBody>
      </p:sp>
      <p:sp>
        <p:nvSpPr>
          <p:cNvPr id="7" name="Shape 4"/>
          <p:cNvSpPr/>
          <p:nvPr/>
        </p:nvSpPr>
        <p:spPr>
          <a:xfrm>
            <a:off x="4572000" y="1371600"/>
            <a:ext cx="3063240" cy="2606040"/>
          </a:xfrm>
          <a:prstGeom prst="rect">
            <a:avLst/>
          </a:prstGeom>
          <a:solidFill>
            <a:srgbClr val="EEF0F6"/>
          </a:solidFill>
          <a:ln w="12700">
            <a:solidFill>
              <a:srgbClr val="EEF0F6"/>
            </a:solidFill>
            <a:prstDash val="solid"/>
          </a:ln>
        </p:spPr>
      </p:sp>
      <p:sp>
        <p:nvSpPr>
          <p:cNvPr id="8" name="Text 5"/>
          <p:cNvSpPr txBox="1"/>
          <p:nvPr/>
        </p:nvSpPr>
        <p:spPr>
          <a:xfrm>
            <a:off x="4572000" y="1463040"/>
            <a:ext cx="3063240" cy="1005840"/>
          </a:xfrm>
          <a:prstGeom prst="rect">
            <a:avLst/>
          </a:prstGeom>
          <a:noFill/>
          <a:ln/>
        </p:spPr>
        <p:txBody>
          <a:bodyPr wrap="square" lIns="0" tIns="0" rIns="0" bIns="0" rtlCol="0" anchor="ctr"/>
          <a:lstStyle/>
          <a:p>
            <a:pPr algn="ctr" indent="0" marL="0">
              <a:buNone/>
            </a:pPr>
            <a:r>
              <a:rPr lang="en-US" sz="6000" b="1" dirty="0">
                <a:solidFill>
                  <a:srgbClr val="525C8D"/>
                </a:solidFill>
                <a:latin typeface="Cambria" pitchFamily="34" charset="0"/>
                <a:ea typeface="Cambria" pitchFamily="34" charset="-122"/>
                <a:cs typeface="Cambria" pitchFamily="34" charset="-120"/>
              </a:rPr>
              <a:t>4</a:t>
            </a:r>
            <a:endParaRPr lang="en-US" sz="6000" dirty="0"/>
          </a:p>
        </p:txBody>
      </p:sp>
      <p:sp>
        <p:nvSpPr>
          <p:cNvPr id="9" name="Text 6"/>
          <p:cNvSpPr txBox="1"/>
          <p:nvPr/>
        </p:nvSpPr>
        <p:spPr>
          <a:xfrm>
            <a:off x="4800600" y="2514600"/>
            <a:ext cx="2606040" cy="1371600"/>
          </a:xfrm>
          <a:prstGeom prst="rect">
            <a:avLst/>
          </a:prstGeom>
          <a:noFill/>
          <a:ln/>
        </p:spPr>
        <p:txBody>
          <a:bodyPr wrap="square" lIns="0" tIns="0" rIns="0" bIns="0" rtlCol="0" anchor="t"/>
          <a:lstStyle/>
          <a:p>
            <a:pPr algn="ctr" indent="0" marL="0">
              <a:buNone/>
            </a:pPr>
            <a:r>
              <a:rPr lang="en-US" sz="1400" dirty="0">
                <a:solidFill>
                  <a:srgbClr val="22252E"/>
                </a:solidFill>
                <a:latin typeface="Calibri" pitchFamily="34" charset="0"/>
                <a:ea typeface="Calibri" pitchFamily="34" charset="-122"/>
                <a:cs typeface="Calibri" pitchFamily="34" charset="-120"/>
              </a:rPr>
              <a:t>checks per record, before and after publication: hash gate, expected Trusty URI, empty issue list, fetch-back and re-verification</a:t>
            </a:r>
            <a:endParaRPr lang="en-US" sz="1400" dirty="0"/>
          </a:p>
        </p:txBody>
      </p:sp>
      <p:sp>
        <p:nvSpPr>
          <p:cNvPr id="10" name="Shape 7"/>
          <p:cNvSpPr/>
          <p:nvPr/>
        </p:nvSpPr>
        <p:spPr>
          <a:xfrm>
            <a:off x="8321040" y="1371600"/>
            <a:ext cx="3063240" cy="2606040"/>
          </a:xfrm>
          <a:prstGeom prst="rect">
            <a:avLst/>
          </a:prstGeom>
          <a:solidFill>
            <a:srgbClr val="EEF0F6"/>
          </a:solidFill>
          <a:ln w="12700">
            <a:solidFill>
              <a:srgbClr val="EEF0F6"/>
            </a:solidFill>
            <a:prstDash val="solid"/>
          </a:ln>
        </p:spPr>
      </p:sp>
      <p:sp>
        <p:nvSpPr>
          <p:cNvPr id="11" name="Text 8"/>
          <p:cNvSpPr txBox="1"/>
          <p:nvPr/>
        </p:nvSpPr>
        <p:spPr>
          <a:xfrm>
            <a:off x="8321040" y="1463040"/>
            <a:ext cx="3063240" cy="1005840"/>
          </a:xfrm>
          <a:prstGeom prst="rect">
            <a:avLst/>
          </a:prstGeom>
          <a:noFill/>
          <a:ln/>
        </p:spPr>
        <p:txBody>
          <a:bodyPr wrap="square" lIns="0" tIns="0" rIns="0" bIns="0" rtlCol="0" anchor="ctr"/>
          <a:lstStyle/>
          <a:p>
            <a:pPr algn="ctr" indent="0" marL="0">
              <a:buNone/>
            </a:pPr>
            <a:r>
              <a:rPr lang="en-US" sz="6000" b="1" dirty="0">
                <a:solidFill>
                  <a:srgbClr val="D97800"/>
                </a:solidFill>
                <a:latin typeface="Cambria" pitchFamily="34" charset="0"/>
                <a:ea typeface="Cambria" pitchFamily="34" charset="-122"/>
                <a:cs typeface="Cambria" pitchFamily="34" charset="-120"/>
              </a:rPr>
              <a:t>2</a:t>
            </a:r>
            <a:endParaRPr lang="en-US" sz="6000" dirty="0"/>
          </a:p>
        </p:txBody>
      </p:sp>
      <p:sp>
        <p:nvSpPr>
          <p:cNvPr id="12" name="Text 9"/>
          <p:cNvSpPr txBox="1"/>
          <p:nvPr/>
        </p:nvSpPr>
        <p:spPr>
          <a:xfrm>
            <a:off x="8549640" y="2514600"/>
            <a:ext cx="2606040" cy="1371600"/>
          </a:xfrm>
          <a:prstGeom prst="rect">
            <a:avLst/>
          </a:prstGeom>
          <a:noFill/>
          <a:ln/>
        </p:spPr>
        <p:txBody>
          <a:bodyPr wrap="square" lIns="0" tIns="0" rIns="0" bIns="0" rtlCol="0" anchor="t"/>
          <a:lstStyle/>
          <a:p>
            <a:pPr algn="ctr" indent="0" marL="0">
              <a:buNone/>
            </a:pPr>
            <a:r>
              <a:rPr lang="en-US" sz="1400" dirty="0">
                <a:solidFill>
                  <a:srgbClr val="22252E"/>
                </a:solidFill>
                <a:latin typeface="Calibri" pitchFamily="34" charset="0"/>
                <a:ea typeface="Calibri" pitchFamily="34" charset="-122"/>
                <a:cs typeface="Calibri" pitchFamily="34" charset="-120"/>
              </a:rPr>
              <a:t>errors caught before publication, by checks run outside the agent</a:t>
            </a:r>
            <a:endParaRPr lang="en-US" sz="1400" dirty="0"/>
          </a:p>
        </p:txBody>
      </p:sp>
      <p:sp>
        <p:nvSpPr>
          <p:cNvPr id="13" name="Text 10"/>
          <p:cNvSpPr txBox="1"/>
          <p:nvPr/>
        </p:nvSpPr>
        <p:spPr>
          <a:xfrm>
            <a:off x="822960" y="4206240"/>
            <a:ext cx="10561320" cy="777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2E"/>
                </a:solidFill>
                <a:latin typeface="Calibri" pitchFamily="34" charset="0"/>
                <a:ea typeface="Calibri" pitchFamily="34" charset="-122"/>
                <a:cs typeface="Calibri" pitchFamily="34" charset="-120"/>
              </a:rPr>
              <a:t>The specification is itself an FDO and conforms to itself.</a:t>
            </a:r>
            <a:endParaRPr lang="en-US" sz="1600" dirty="0"/>
          </a:p>
          <a:p>
            <a:pPr marL="342900" indent="-342900">
              <a:spcAft>
                <a:spcPts val="600"/>
              </a:spcAft>
              <a:buSzPct val="100000"/>
              <a:buChar char="•"/>
            </a:pPr>
            <a:r>
              <a:rPr lang="en-US" sz="1600" dirty="0">
                <a:solidFill>
                  <a:srgbClr val="22252E"/>
                </a:solidFill>
                <a:latin typeface="Calibri" pitchFamily="34" charset="0"/>
                <a:ea typeface="Calibri" pitchFamily="34" charset="-122"/>
                <a:cs typeface="Calibri" pitchFamily="34" charset="-120"/>
              </a:rPr>
              <a:t>The vocabulary sits inside the layer it defines: each term is its own record.</a:t>
            </a:r>
            <a:endParaRPr lang="en-US" sz="1600" dirty="0"/>
          </a:p>
        </p:txBody>
      </p:sp>
      <p:sp>
        <p:nvSpPr>
          <p:cNvPr id="14" name="Text 11"/>
          <p:cNvSpPr txBox="1"/>
          <p:nvPr/>
        </p:nvSpPr>
        <p:spPr>
          <a:xfrm>
            <a:off x="822960" y="5120640"/>
            <a:ext cx="10561320" cy="457200"/>
          </a:xfrm>
          <a:prstGeom prst="rect">
            <a:avLst/>
          </a:prstGeom>
          <a:noFill/>
          <a:ln/>
        </p:spPr>
        <p:txBody>
          <a:bodyPr wrap="square" lIns="0" tIns="0" rIns="0" bIns="0" rtlCol="0" anchor="ctr"/>
          <a:lstStyle/>
          <a:p>
            <a:pPr algn="ctr" indent="0" marL="0">
              <a:buNone/>
            </a:pPr>
            <a:r>
              <a:rPr lang="en-US" sz="2000" i="1" dirty="0">
                <a:solidFill>
                  <a:srgbClr val="1B2A4E"/>
                </a:solidFill>
                <a:latin typeface="Cambria" pitchFamily="34" charset="0"/>
                <a:ea typeface="Cambria" pitchFamily="34" charset="-122"/>
                <a:cs typeface="Cambria" pitchFamily="34" charset="-120"/>
              </a:rPr>
              <a:t>Human-controlled publication is necessary, not decorative.</a:t>
            </a:r>
            <a:endParaRPr lang="en-US" sz="2000" dirty="0"/>
          </a:p>
        </p:txBody>
      </p:sp>
      <p:sp>
        <p:nvSpPr>
          <p:cNvPr id="15" name="Text 12"/>
          <p:cNvSpPr txBox="1"/>
          <p:nvPr/>
        </p:nvSpPr>
        <p:spPr>
          <a:xfrm>
            <a:off x="822960" y="5852160"/>
            <a:ext cx="10561320" cy="274320"/>
          </a:xfrm>
          <a:prstGeom prst="rect">
            <a:avLst/>
          </a:prstGeom>
          <a:noFill/>
          <a:ln/>
        </p:spPr>
        <p:txBody>
          <a:bodyPr wrap="square" lIns="0" tIns="0" rIns="0" bIns="0" rtlCol="0" anchor="ctr"/>
          <a:lstStyle/>
          <a:p>
            <a:pPr algn="ctr" indent="0" marL="0">
              <a:buNone/>
            </a:pPr>
            <a:r>
              <a:rPr lang="en-US" sz="1100" dirty="0">
                <a:solidFill>
                  <a:srgbClr val="5A5F6E"/>
                </a:solidFill>
                <a:latin typeface="Calibri" pitchFamily="34" charset="0"/>
                <a:ea typeface="Calibri" pitchFamily="34" charset="-122"/>
                <a:cs typeface="Calibri" pitchFamily="34" charset="-120"/>
              </a:rPr>
              <a:t>Public minting log: github.com/easchultes/npfdo-core, MINTING_LOG.md</a:t>
            </a:r>
            <a:endParaRPr lang="en-US" sz="1100" dirty="0"/>
          </a:p>
        </p:txBody>
      </p:sp>
      <p:sp>
        <p:nvSpPr>
          <p:cNvPr id="16" name="Text 13"/>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The acceptance test: a fresh agent, starting from an FDO</a:t>
            </a:r>
            <a:endParaRPr lang="en-US" sz="3000" dirty="0"/>
          </a:p>
        </p:txBody>
      </p:sp>
      <p:sp>
        <p:nvSpPr>
          <p:cNvPr id="4" name="Shape 1"/>
          <p:cNvSpPr/>
          <p:nvPr/>
        </p:nvSpPr>
        <p:spPr>
          <a:xfrm>
            <a:off x="914400" y="1417320"/>
            <a:ext cx="1371600" cy="1371600"/>
          </a:xfrm>
          <a:prstGeom prst="ellipse">
            <a:avLst/>
          </a:prstGeom>
          <a:solidFill>
            <a:srgbClr val="525C8D"/>
          </a:solidFill>
          <a:ln w="12700">
            <a:solidFill>
              <a:srgbClr val="525C8D"/>
            </a:solidFill>
            <a:prstDash val="solid"/>
          </a:ln>
        </p:spPr>
      </p:sp>
      <p:sp>
        <p:nvSpPr>
          <p:cNvPr id="5" name="Text 2"/>
          <p:cNvSpPr txBox="1"/>
          <p:nvPr/>
        </p:nvSpPr>
        <p:spPr>
          <a:xfrm>
            <a:off x="960120" y="1417320"/>
            <a:ext cx="1280160" cy="13716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Specification</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record (FDO)</a:t>
            </a:r>
            <a:endParaRPr lang="en-US" sz="1300" dirty="0"/>
          </a:p>
        </p:txBody>
      </p:sp>
      <p:sp>
        <p:nvSpPr>
          <p:cNvPr id="6" name="Shape 3"/>
          <p:cNvSpPr/>
          <p:nvPr/>
        </p:nvSpPr>
        <p:spPr>
          <a:xfrm>
            <a:off x="3886200" y="1417320"/>
            <a:ext cx="1371600" cy="1371600"/>
          </a:xfrm>
          <a:prstGeom prst="ellipse">
            <a:avLst/>
          </a:prstGeom>
          <a:solidFill>
            <a:srgbClr val="525C8D"/>
          </a:solidFill>
          <a:ln w="12700">
            <a:solidFill>
              <a:srgbClr val="525C8D"/>
            </a:solidFill>
            <a:prstDash val="solid"/>
          </a:ln>
        </p:spPr>
      </p:sp>
      <p:sp>
        <p:nvSpPr>
          <p:cNvPr id="7" name="Text 4"/>
          <p:cNvSpPr txBox="1"/>
          <p:nvPr/>
        </p:nvSpPr>
        <p:spPr>
          <a:xfrm>
            <a:off x="3931920" y="1417320"/>
            <a:ext cx="1280160" cy="13716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Agent +</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skill</a:t>
            </a:r>
            <a:endParaRPr lang="en-US" sz="1500" dirty="0"/>
          </a:p>
        </p:txBody>
      </p:sp>
      <p:sp>
        <p:nvSpPr>
          <p:cNvPr id="8" name="Shape 5"/>
          <p:cNvSpPr/>
          <p:nvPr/>
        </p:nvSpPr>
        <p:spPr>
          <a:xfrm>
            <a:off x="6858000" y="1417320"/>
            <a:ext cx="1371600" cy="1371600"/>
          </a:xfrm>
          <a:prstGeom prst="ellipse">
            <a:avLst/>
          </a:prstGeom>
          <a:solidFill>
            <a:srgbClr val="1B2A4E"/>
          </a:solidFill>
          <a:ln w="12700">
            <a:solidFill>
              <a:srgbClr val="1B2A4E"/>
            </a:solidFill>
            <a:prstDash val="solid"/>
          </a:ln>
        </p:spPr>
      </p:sp>
      <p:sp>
        <p:nvSpPr>
          <p:cNvPr id="9" name="Text 6"/>
          <p:cNvSpPr txBox="1"/>
          <p:nvPr/>
        </p:nvSpPr>
        <p:spPr>
          <a:xfrm>
            <a:off x="6903720" y="1417320"/>
            <a:ext cx="1280160" cy="13716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Human</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publishes</a:t>
            </a:r>
            <a:endParaRPr lang="en-US" sz="1500" dirty="0"/>
          </a:p>
        </p:txBody>
      </p:sp>
      <p:sp>
        <p:nvSpPr>
          <p:cNvPr id="10" name="Shape 7"/>
          <p:cNvSpPr/>
          <p:nvPr/>
        </p:nvSpPr>
        <p:spPr>
          <a:xfrm>
            <a:off x="9829800" y="1417320"/>
            <a:ext cx="1371600" cy="1371600"/>
          </a:xfrm>
          <a:prstGeom prst="ellipse">
            <a:avLst/>
          </a:prstGeom>
          <a:solidFill>
            <a:srgbClr val="525C8D"/>
          </a:solidFill>
          <a:ln w="12700">
            <a:solidFill>
              <a:srgbClr val="525C8D"/>
            </a:solidFill>
            <a:prstDash val="solid"/>
          </a:ln>
        </p:spPr>
      </p:sp>
      <p:sp>
        <p:nvSpPr>
          <p:cNvPr id="11" name="Text 8"/>
          <p:cNvSpPr txBox="1"/>
          <p:nvPr/>
        </p:nvSpPr>
        <p:spPr>
          <a:xfrm>
            <a:off x="9875520" y="1417320"/>
            <a:ext cx="1280160" cy="13716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New</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FDOs</a:t>
            </a:r>
            <a:endParaRPr lang="en-US" sz="1500" dirty="0"/>
          </a:p>
        </p:txBody>
      </p:sp>
      <p:sp>
        <p:nvSpPr>
          <p:cNvPr id="12" name="Shape 9"/>
          <p:cNvSpPr/>
          <p:nvPr/>
        </p:nvSpPr>
        <p:spPr>
          <a:xfrm>
            <a:off x="2359152" y="2103120"/>
            <a:ext cx="1453896" cy="0"/>
          </a:xfrm>
          <a:prstGeom prst="line">
            <a:avLst/>
          </a:prstGeom>
          <a:noFill/>
          <a:ln w="25400">
            <a:solidFill>
              <a:srgbClr val="0D4C77"/>
            </a:solidFill>
            <a:prstDash val="solid"/>
            <a:tailEnd type="triangle"/>
          </a:ln>
        </p:spPr>
      </p:sp>
      <p:sp>
        <p:nvSpPr>
          <p:cNvPr id="13" name="Shape 10"/>
          <p:cNvSpPr/>
          <p:nvPr/>
        </p:nvSpPr>
        <p:spPr>
          <a:xfrm>
            <a:off x="5330952" y="2103120"/>
            <a:ext cx="1453896" cy="0"/>
          </a:xfrm>
          <a:prstGeom prst="line">
            <a:avLst/>
          </a:prstGeom>
          <a:noFill/>
          <a:ln w="25400">
            <a:solidFill>
              <a:srgbClr val="0D4C77"/>
            </a:solidFill>
            <a:prstDash val="solid"/>
            <a:tailEnd type="triangle"/>
          </a:ln>
        </p:spPr>
      </p:sp>
      <p:sp>
        <p:nvSpPr>
          <p:cNvPr id="14" name="Shape 11"/>
          <p:cNvSpPr/>
          <p:nvPr/>
        </p:nvSpPr>
        <p:spPr>
          <a:xfrm>
            <a:off x="8302752" y="2103120"/>
            <a:ext cx="1453896" cy="0"/>
          </a:xfrm>
          <a:prstGeom prst="line">
            <a:avLst/>
          </a:prstGeom>
          <a:noFill/>
          <a:ln w="25400">
            <a:solidFill>
              <a:srgbClr val="0D4C77"/>
            </a:solidFill>
            <a:prstDash val="solid"/>
            <a:tailEnd type="triangle"/>
          </a:ln>
        </p:spPr>
      </p:sp>
      <p:sp>
        <p:nvSpPr>
          <p:cNvPr id="15" name="Text 12"/>
          <p:cNvSpPr txBox="1"/>
          <p:nvPr/>
        </p:nvSpPr>
        <p:spPr>
          <a:xfrm>
            <a:off x="2103120" y="2212848"/>
            <a:ext cx="1965960" cy="566928"/>
          </a:xfrm>
          <a:prstGeom prst="rect">
            <a:avLst/>
          </a:prstGeom>
          <a:noFill/>
          <a:ln/>
        </p:spPr>
        <p:txBody>
          <a:bodyPr wrap="square" lIns="0" tIns="0" rIns="0" bIns="0" rtlCol="0" anchor="ctr"/>
          <a:lstStyle/>
          <a:p>
            <a:pPr algn="ctr" indent="0" marL="0">
              <a:buNone/>
            </a:pPr>
            <a:r>
              <a:rPr lang="en-US" sz="1200" dirty="0">
                <a:solidFill>
                  <a:srgbClr val="8E1B0E"/>
                </a:solidFill>
                <a:latin typeface="Calibri" pitchFamily="34" charset="0"/>
                <a:ea typeface="Calibri" pitchFamily="34" charset="-122"/>
                <a:cs typeface="Calibri" pitchFamily="34" charset="-120"/>
              </a:rPr>
              <a:t>resolve, download,</a:t>
            </a:r>
            <a:endParaRPr lang="en-US" sz="1200" dirty="0"/>
          </a:p>
          <a:p>
            <a:pPr algn="ctr" indent="0" marL="0">
              <a:buNone/>
            </a:pPr>
            <a:r>
              <a:rPr lang="en-US" sz="1200" dirty="0">
                <a:solidFill>
                  <a:srgbClr val="8E1B0E"/>
                </a:solidFill>
                <a:latin typeface="Calibri" pitchFamily="34" charset="0"/>
                <a:ea typeface="Calibri" pitchFamily="34" charset="-122"/>
                <a:cs typeface="Calibri" pitchFamily="34" charset="-120"/>
              </a:rPr>
              <a:t>verify SHA-256</a:t>
            </a:r>
            <a:endParaRPr lang="en-US" sz="1200" dirty="0"/>
          </a:p>
        </p:txBody>
      </p:sp>
      <p:sp>
        <p:nvSpPr>
          <p:cNvPr id="16" name="Text 13"/>
          <p:cNvSpPr txBox="1"/>
          <p:nvPr/>
        </p:nvSpPr>
        <p:spPr>
          <a:xfrm>
            <a:off x="5074920" y="2212848"/>
            <a:ext cx="1965960" cy="566928"/>
          </a:xfrm>
          <a:prstGeom prst="rect">
            <a:avLst/>
          </a:prstGeom>
          <a:noFill/>
          <a:ln/>
        </p:spPr>
        <p:txBody>
          <a:bodyPr wrap="square" lIns="0" tIns="0" rIns="0" bIns="0" rtlCol="0" anchor="ctr"/>
          <a:lstStyle/>
          <a:p>
            <a:pPr algn="ctr" indent="0" marL="0">
              <a:buNone/>
            </a:pPr>
            <a:r>
              <a:rPr lang="en-US" sz="1200" dirty="0">
                <a:solidFill>
                  <a:srgbClr val="8E1B0E"/>
                </a:solidFill>
                <a:latin typeface="Calibri" pitchFamily="34" charset="0"/>
                <a:ea typeface="Calibri" pitchFamily="34" charset="-122"/>
                <a:cs typeface="Calibri" pitchFamily="34" charset="-120"/>
              </a:rPr>
              <a:t>draft, check,</a:t>
            </a:r>
            <a:endParaRPr lang="en-US" sz="1200" dirty="0"/>
          </a:p>
          <a:p>
            <a:pPr algn="ctr" indent="0" marL="0">
              <a:buNone/>
            </a:pPr>
            <a:r>
              <a:rPr lang="en-US" sz="1200" dirty="0">
                <a:solidFill>
                  <a:srgbClr val="8E1B0E"/>
                </a:solidFill>
                <a:latin typeface="Calibri" pitchFamily="34" charset="0"/>
                <a:ea typeface="Calibri" pitchFamily="34" charset="-122"/>
                <a:cs typeface="Calibri" pitchFamily="34" charset="-120"/>
              </a:rPr>
              <a:t>sign</a:t>
            </a:r>
            <a:endParaRPr lang="en-US" sz="1200" dirty="0"/>
          </a:p>
        </p:txBody>
      </p:sp>
      <p:sp>
        <p:nvSpPr>
          <p:cNvPr id="17" name="Text 14"/>
          <p:cNvSpPr txBox="1"/>
          <p:nvPr/>
        </p:nvSpPr>
        <p:spPr>
          <a:xfrm>
            <a:off x="8046720" y="2212848"/>
            <a:ext cx="1965960" cy="320040"/>
          </a:xfrm>
          <a:prstGeom prst="rect">
            <a:avLst/>
          </a:prstGeom>
          <a:noFill/>
          <a:ln/>
        </p:spPr>
        <p:txBody>
          <a:bodyPr wrap="square" lIns="0" tIns="0" rIns="0" bIns="0" rtlCol="0" anchor="ctr"/>
          <a:lstStyle/>
          <a:p>
            <a:pPr algn="ctr" indent="0" marL="0">
              <a:buNone/>
            </a:pPr>
            <a:r>
              <a:rPr lang="en-US" sz="1200" dirty="0">
                <a:solidFill>
                  <a:srgbClr val="8E1B0E"/>
                </a:solidFill>
                <a:latin typeface="Calibri" pitchFamily="34" charset="0"/>
                <a:ea typeface="Calibri" pitchFamily="34" charset="-122"/>
                <a:cs typeface="Calibri" pitchFamily="34" charset="-120"/>
              </a:rPr>
              <a:t>gated step</a:t>
            </a:r>
            <a:endParaRPr lang="en-US" sz="1200" dirty="0"/>
          </a:p>
        </p:txBody>
      </p:sp>
      <p:sp>
        <p:nvSpPr>
          <p:cNvPr id="18" name="Text 15"/>
          <p:cNvSpPr txBox="1"/>
          <p:nvPr/>
        </p:nvSpPr>
        <p:spPr>
          <a:xfrm>
            <a:off x="822960" y="3017520"/>
            <a:ext cx="10561320" cy="320040"/>
          </a:xfrm>
          <a:prstGeom prst="rect">
            <a:avLst/>
          </a:prstGeom>
          <a:noFill/>
          <a:ln/>
        </p:spPr>
        <p:txBody>
          <a:bodyPr wrap="square" lIns="0" tIns="0" rIns="0" bIns="0" rtlCol="0" anchor="ctr"/>
          <a:lstStyle/>
          <a:p>
            <a:pPr algn="ctr" indent="0" marL="0">
              <a:buNone/>
            </a:pPr>
            <a:r>
              <a:rPr lang="en-US" sz="1400" dirty="0">
                <a:solidFill>
                  <a:srgbClr val="22252E"/>
                </a:solidFill>
                <a:latin typeface="Calibri" pitchFamily="34" charset="0"/>
                <a:ea typeface="Calibri" pitchFamily="34" charset="-122"/>
                <a:cs typeface="Calibri" pitchFamily="34" charset="-120"/>
              </a:rPr>
              <a:t>Setup: a fresh session, no build context: the skill, its declared dependency, the network, and a task prompt.</a:t>
            </a:r>
            <a:endParaRPr lang="en-US" sz="1400" dirty="0"/>
          </a:p>
        </p:txBody>
      </p:sp>
      <p:sp>
        <p:nvSpPr>
          <p:cNvPr id="19" name="Text 16"/>
          <p:cNvSpPr txBox="1"/>
          <p:nvPr/>
        </p:nvSpPr>
        <p:spPr>
          <a:xfrm>
            <a:off x="822960" y="3383280"/>
            <a:ext cx="10561320" cy="365760"/>
          </a:xfrm>
          <a:prstGeom prst="rect">
            <a:avLst/>
          </a:prstGeom>
          <a:noFill/>
          <a:ln/>
        </p:spPr>
        <p:txBody>
          <a:bodyPr wrap="square" lIns="0" tIns="0" rIns="0" bIns="0" rtlCol="0" anchor="t"/>
          <a:lstStyle/>
          <a:p>
            <a:pPr algn="ctr" indent="0" marL="0">
              <a:buNone/>
            </a:pPr>
            <a:r>
              <a:rPr lang="en-US" sz="1400" b="1" dirty="0">
                <a:solidFill>
                  <a:srgbClr val="1B2A4E"/>
                </a:solidFill>
                <a:latin typeface="Calibri" pitchFamily="34" charset="0"/>
                <a:ea typeface="Calibri" pitchFamily="34" charset="-122"/>
                <a:cs typeface="Calibri" pitchFamily="34" charset="-120"/>
              </a:rPr>
              <a:t>Outputs: </a:t>
            </a:r>
            <a:pPr algn="ctr" indent="0" marL="0">
              <a:buNone/>
            </a:pPr>
            <a:r>
              <a:rPr lang="en-US" sz="1400" dirty="0">
                <a:solidFill>
                  <a:srgbClr val="22252E"/>
                </a:solidFill>
                <a:latin typeface="Calibri" pitchFamily="34" charset="0"/>
                <a:ea typeface="Calibri" pitchFamily="34" charset="-122"/>
                <a:cs typeface="Calibri" pitchFamily="34" charset="-120"/>
              </a:rPr>
              <a:t>three term records superseded (same key, same term IRIs, definitions unchanged); the skill’s own record, bound to its release bytes by SHA-256.</a:t>
            </a:r>
            <a:endParaRPr lang="en-US" sz="1400" dirty="0"/>
          </a:p>
        </p:txBody>
      </p:sp>
      <p:sp>
        <p:nvSpPr>
          <p:cNvPr id="20" name="Shape 17"/>
          <p:cNvSpPr/>
          <p:nvPr/>
        </p:nvSpPr>
        <p:spPr>
          <a:xfrm>
            <a:off x="822960" y="3977640"/>
            <a:ext cx="10561320" cy="1828800"/>
          </a:xfrm>
          <a:prstGeom prst="rect">
            <a:avLst/>
          </a:prstGeom>
          <a:solidFill>
            <a:srgbClr val="EEF0F6"/>
          </a:solidFill>
          <a:ln w="12700">
            <a:solidFill>
              <a:srgbClr val="EEF0F6"/>
            </a:solidFill>
            <a:prstDash val="solid"/>
          </a:ln>
        </p:spPr>
      </p:sp>
      <p:sp>
        <p:nvSpPr>
          <p:cNvPr id="21" name="Text 18"/>
          <p:cNvSpPr txBox="1"/>
          <p:nvPr/>
        </p:nvSpPr>
        <p:spPr>
          <a:xfrm>
            <a:off x="1051560" y="4114800"/>
            <a:ext cx="1737360" cy="457200"/>
          </a:xfrm>
          <a:prstGeom prst="rect">
            <a:avLst/>
          </a:prstGeom>
          <a:noFill/>
          <a:ln/>
        </p:spPr>
        <p:txBody>
          <a:bodyPr wrap="square" lIns="0" tIns="0" rIns="0" bIns="0" rtlCol="0" anchor="ctr"/>
          <a:lstStyle/>
          <a:p>
            <a:pPr indent="0" marL="0">
              <a:buNone/>
            </a:pPr>
            <a:r>
              <a:rPr lang="en-US" sz="1400" b="1" dirty="0">
                <a:solidFill>
                  <a:srgbClr val="525C8D"/>
                </a:solidFill>
                <a:latin typeface="Calibri" pitchFamily="34" charset="0"/>
                <a:ea typeface="Calibri" pitchFamily="34" charset="-122"/>
                <a:cs typeface="Calibri" pitchFamily="34" charset="-120"/>
              </a:rPr>
              <a:t>Observed</a:t>
            </a:r>
            <a:endParaRPr lang="en-US" sz="1400" dirty="0"/>
          </a:p>
        </p:txBody>
      </p:sp>
      <p:sp>
        <p:nvSpPr>
          <p:cNvPr id="22" name="Text 19"/>
          <p:cNvSpPr txBox="1"/>
          <p:nvPr/>
        </p:nvSpPr>
        <p:spPr>
          <a:xfrm>
            <a:off x="2834640" y="4114800"/>
            <a:ext cx="8366760" cy="457200"/>
          </a:xfrm>
          <a:prstGeom prst="rect">
            <a:avLst/>
          </a:prstGeom>
          <a:noFill/>
          <a:ln/>
        </p:spPr>
        <p:txBody>
          <a:bodyPr wrap="square" lIns="0" tIns="0" rIns="0" bIns="0" rtlCol="0" anchor="ctr"/>
          <a:lstStyle/>
          <a:p>
            <a:pPr indent="0" marL="0">
              <a:buNone/>
            </a:pPr>
            <a:r>
              <a:rPr lang="en-US" sz="1400" dirty="0">
                <a:solidFill>
                  <a:srgbClr val="22252E"/>
                </a:solidFill>
                <a:latin typeface="Calibri" pitchFamily="34" charset="0"/>
                <a:ea typeface="Calibri" pitchFamily="34" charset="-122"/>
                <a:cs typeface="Calibri" pitchFamily="34" charset="-120"/>
              </a:rPr>
              <a:t>Four live records, signed with the corpus key. Five interventions, none adding domain knowledge. No published record needed correction.</a:t>
            </a:r>
            <a:endParaRPr lang="en-US" sz="1400" dirty="0"/>
          </a:p>
        </p:txBody>
      </p:sp>
      <p:sp>
        <p:nvSpPr>
          <p:cNvPr id="23" name="Text 20"/>
          <p:cNvSpPr txBox="1"/>
          <p:nvPr/>
        </p:nvSpPr>
        <p:spPr>
          <a:xfrm>
            <a:off x="1051560" y="4663440"/>
            <a:ext cx="1737360" cy="457200"/>
          </a:xfrm>
          <a:prstGeom prst="rect">
            <a:avLst/>
          </a:prstGeom>
          <a:noFill/>
          <a:ln/>
        </p:spPr>
        <p:txBody>
          <a:bodyPr wrap="square" lIns="0" tIns="0" rIns="0" bIns="0" rtlCol="0" anchor="ctr"/>
          <a:lstStyle/>
          <a:p>
            <a:pPr indent="0" marL="0">
              <a:buNone/>
            </a:pPr>
            <a:r>
              <a:rPr lang="en-US" sz="1400" b="1" dirty="0">
                <a:solidFill>
                  <a:srgbClr val="D97800"/>
                </a:solidFill>
                <a:latin typeface="Calibri" pitchFamily="34" charset="0"/>
                <a:ea typeface="Calibri" pitchFamily="34" charset="-122"/>
                <a:cs typeface="Calibri" pitchFamily="34" charset="-120"/>
              </a:rPr>
              <a:t>Not yet shown</a:t>
            </a:r>
            <a:endParaRPr lang="en-US" sz="1400" dirty="0"/>
          </a:p>
        </p:txBody>
      </p:sp>
      <p:sp>
        <p:nvSpPr>
          <p:cNvPr id="24" name="Text 21"/>
          <p:cNvSpPr txBox="1"/>
          <p:nvPr/>
        </p:nvSpPr>
        <p:spPr>
          <a:xfrm>
            <a:off x="2834640" y="4663440"/>
            <a:ext cx="8366760" cy="457200"/>
          </a:xfrm>
          <a:prstGeom prst="rect">
            <a:avLst/>
          </a:prstGeom>
          <a:noFill/>
          <a:ln/>
        </p:spPr>
        <p:txBody>
          <a:bodyPr wrap="square" lIns="0" tIns="0" rIns="0" bIns="0" rtlCol="0" anchor="ctr"/>
          <a:lstStyle/>
          <a:p>
            <a:pPr indent="0" marL="0">
              <a:buNone/>
            </a:pPr>
            <a:r>
              <a:rPr lang="en-US" sz="1400" dirty="0">
                <a:solidFill>
                  <a:srgbClr val="22252E"/>
                </a:solidFill>
                <a:latin typeface="Calibri" pitchFamily="34" charset="0"/>
                <a:ea typeface="Calibri" pitchFamily="34" charset="-122"/>
                <a:cs typeface="Calibri" pitchFamily="34" charset="-120"/>
              </a:rPr>
              <a:t>The skill alone: the prompt supplied the type-specific slots.</a:t>
            </a:r>
            <a:endParaRPr lang="en-US" sz="1400" dirty="0"/>
          </a:p>
        </p:txBody>
      </p:sp>
      <p:sp>
        <p:nvSpPr>
          <p:cNvPr id="25" name="Text 22"/>
          <p:cNvSpPr txBox="1"/>
          <p:nvPr/>
        </p:nvSpPr>
        <p:spPr>
          <a:xfrm>
            <a:off x="1051560" y="5212080"/>
            <a:ext cx="1737360" cy="457200"/>
          </a:xfrm>
          <a:prstGeom prst="rect">
            <a:avLst/>
          </a:prstGeom>
          <a:noFill/>
          <a:ln/>
        </p:spPr>
        <p:txBody>
          <a:bodyPr wrap="square" lIns="0" tIns="0" rIns="0" bIns="0" rtlCol="0" anchor="ctr"/>
          <a:lstStyle/>
          <a:p>
            <a:pPr indent="0" marL="0">
              <a:buNone/>
            </a:pPr>
            <a:r>
              <a:rPr lang="en-US" sz="1400" b="1" dirty="0">
                <a:solidFill>
                  <a:srgbClr val="5A5F6E"/>
                </a:solidFill>
                <a:latin typeface="Calibri" pitchFamily="34" charset="0"/>
                <a:ea typeface="Calibri" pitchFamily="34" charset="-122"/>
                <a:cs typeface="Calibri" pitchFamily="34" charset="-120"/>
              </a:rPr>
              <a:t>Corrections</a:t>
            </a:r>
            <a:endParaRPr lang="en-US" sz="1400" dirty="0"/>
          </a:p>
        </p:txBody>
      </p:sp>
      <p:sp>
        <p:nvSpPr>
          <p:cNvPr id="26" name="Text 23"/>
          <p:cNvSpPr txBox="1"/>
          <p:nvPr/>
        </p:nvSpPr>
        <p:spPr>
          <a:xfrm>
            <a:off x="2834640" y="5212080"/>
            <a:ext cx="8366760" cy="457200"/>
          </a:xfrm>
          <a:prstGeom prst="rect">
            <a:avLst/>
          </a:prstGeom>
          <a:noFill/>
          <a:ln/>
        </p:spPr>
        <p:txBody>
          <a:bodyPr wrap="square" lIns="0" tIns="0" rIns="0" bIns="0" rtlCol="0" anchor="ctr"/>
          <a:lstStyle/>
          <a:p>
            <a:pPr indent="0" marL="0">
              <a:buNone/>
            </a:pPr>
            <a:r>
              <a:rPr lang="en-US" sz="1400" dirty="0">
                <a:solidFill>
                  <a:srgbClr val="22252E"/>
                </a:solidFill>
                <a:latin typeface="Calibri" pitchFamily="34" charset="0"/>
                <a:ea typeface="Calibri" pitchFamily="34" charset="-122"/>
                <a:cs typeface="Calibri" pitchFamily="34" charset="-120"/>
              </a:rPr>
              <a:t>Nine findings (one major, four moderate, four minor); remedies scheduled for v0.1.1 and v0.2.</a:t>
            </a:r>
            <a:endParaRPr lang="en-US" sz="1400" dirty="0"/>
          </a:p>
        </p:txBody>
      </p:sp>
      <p:sp>
        <p:nvSpPr>
          <p:cNvPr id="27" name="Text 24"/>
          <p:cNvSpPr txBox="1"/>
          <p:nvPr/>
        </p:nvSpPr>
        <p:spPr>
          <a:xfrm>
            <a:off x="822960" y="5897880"/>
            <a:ext cx="10561320" cy="274320"/>
          </a:xfrm>
          <a:prstGeom prst="rect">
            <a:avLst/>
          </a:prstGeom>
          <a:noFill/>
          <a:ln/>
        </p:spPr>
        <p:txBody>
          <a:bodyPr wrap="square" lIns="0" tIns="0" rIns="0" bIns="0" rtlCol="0" anchor="ctr"/>
          <a:lstStyle/>
          <a:p>
            <a:pPr algn="ctr" indent="0" marL="0">
              <a:buNone/>
            </a:pPr>
            <a:r>
              <a:rPr lang="en-US" sz="1100" dirty="0">
                <a:solidFill>
                  <a:srgbClr val="5A5F6E"/>
                </a:solidFill>
                <a:latin typeface="Calibri" pitchFamily="34" charset="0"/>
                <a:ea typeface="Calibri" pitchFamily="34" charset="-122"/>
                <a:cs typeface="Calibri" pitchFamily="34" charset="-120"/>
              </a:rPr>
              <a:t>Source: acceptance ledger, npfdo Chat D, 28 September 2026 (the orchestrator’s verdict; the agent’s own verdict pending).</a:t>
            </a:r>
            <a:endParaRPr lang="en-US" sz="1100" dirty="0"/>
          </a:p>
        </p:txBody>
      </p:sp>
      <p:sp>
        <p:nvSpPr>
          <p:cNvPr id="28" name="Text 25"/>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Declaring AI involvement: FAIA in three graphs</a:t>
            </a:r>
            <a:endParaRPr lang="en-US" sz="3000" dirty="0"/>
          </a:p>
        </p:txBody>
      </p:sp>
      <p:sp>
        <p:nvSpPr>
          <p:cNvPr id="4" name="Text 1"/>
          <p:cNvSpPr txBox="1"/>
          <p:nvPr/>
        </p:nvSpPr>
        <p:spPr>
          <a:xfrm>
            <a:off x="822960" y="1188720"/>
            <a:ext cx="10561320" cy="685800"/>
          </a:xfrm>
          <a:prstGeom prst="rect">
            <a:avLst/>
          </a:prstGeom>
          <a:noFill/>
          <a:ln/>
        </p:spPr>
        <p:txBody>
          <a:bodyPr wrap="square" lIns="0" tIns="0" rIns="0" bIns="0" rtlCol="0" anchor="ctr"/>
          <a:lstStyle/>
          <a:p>
            <a:pPr indent="0" marL="0">
              <a:buNone/>
            </a:pPr>
            <a:r>
              <a:rPr lang="en-US" sz="1600" b="1" dirty="0">
                <a:solidFill>
                  <a:srgbClr val="1B2A4E"/>
                </a:solidFill>
                <a:latin typeface="Calibri" pitchFamily="34" charset="0"/>
                <a:ea typeface="Calibri" pitchFamily="34" charset="-122"/>
                <a:cs typeface="Calibri" pitchFamily="34" charset="-120"/>
              </a:rPr>
              <a:t>FAIR AI Attribution (FAIA) </a:t>
            </a:r>
            <a:pPr indent="0" marL="0">
              <a:buNone/>
            </a:pPr>
            <a:r>
              <a:rPr lang="en-US" sz="1600" dirty="0">
                <a:solidFill>
                  <a:srgbClr val="22252E"/>
                </a:solidFill>
                <a:latin typeface="Calibri" pitchFamily="34" charset="0"/>
                <a:ea typeface="Calibri" pitchFamily="34" charset="-122"/>
                <a:cs typeface="Calibri" pitchFamily="34" charset="-120"/>
              </a:rPr>
              <a:t>declares AI involvement in machine-readable form: a flag, an activity code, and the AI system with its version. Relevant to EU AI Act Art. 50(2).</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61320" cy="914400"/>
        </p:xfrm>
        <a:graphic>
          <a:graphicData uri="http://schemas.openxmlformats.org/drawingml/2006/table">
            <a:tbl>
              <a:tblPr/>
              <a:tblGrid>
                <a:gridCol w="2651760"/>
                <a:gridCol w="3063240"/>
                <a:gridCol w="3017520"/>
                <a:gridCol w="1828800"/>
              </a:tblGrid>
              <a:tr h="43891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Graph</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About</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Records how…</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Activity code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5C8D"/>
                    </a:solidFill>
                  </a:tcPr>
                </a:tc>
              </a:tr>
              <a:tr h="438912">
                <a:tc>
                  <a:txBody>
                    <a:bodyPr/>
                    <a:lstStyle/>
                    <a:p>
                      <a:pPr indent="0" marL="0">
                        <a:buNone/>
                      </a:pPr>
                      <a:r>
                        <a:rPr lang="en-US" sz="1500" b="1" dirty="0">
                          <a:solidFill>
                            <a:srgbClr val="1B2A4E"/>
                          </a:solidFill>
                          <a:latin typeface="Calibri" pitchFamily="34" charset="0"/>
                          <a:ea typeface="Calibri" pitchFamily="34" charset="-122"/>
                          <a:cs typeface="Calibri" pitchFamily="34" charset="-120"/>
                        </a:rPr>
                        <a:t>Assertion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the object (the term; the skill)</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the thing itself was made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Co-Creation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r>
              <a:tr h="438912">
                <a:tc>
                  <a:txBody>
                    <a:bodyPr/>
                    <a:lstStyle/>
                    <a:p>
                      <a:pPr indent="0" marL="0">
                        <a:buNone/>
                      </a:pPr>
                      <a:r>
                        <a:rPr lang="en-US" sz="1500" b="1" dirty="0">
                          <a:solidFill>
                            <a:srgbClr val="1B2A4E"/>
                          </a:solidFill>
                          <a:latin typeface="Calibri" pitchFamily="34" charset="0"/>
                          <a:ea typeface="Calibri" pitchFamily="34" charset="-122"/>
                          <a:cs typeface="Calibri" pitchFamily="34" charset="-120"/>
                        </a:rPr>
                        <a:t>Provenance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the minting activity</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its description was produced</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r>
              <a:tr h="438912">
                <a:tc>
                  <a:txBody>
                    <a:bodyPr/>
                    <a:lstStyle/>
                    <a:p>
                      <a:pPr indent="0" marL="0">
                        <a:buNone/>
                      </a:pPr>
                      <a:r>
                        <a:rPr lang="en-US" sz="1500" b="1" dirty="0">
                          <a:solidFill>
                            <a:srgbClr val="1B2A4E"/>
                          </a:solidFill>
                          <a:latin typeface="Calibri" pitchFamily="34" charset="0"/>
                          <a:ea typeface="Calibri" pitchFamily="34" charset="-122"/>
                          <a:cs typeface="Calibri" pitchFamily="34" charset="-120"/>
                        </a:rPr>
                        <a:t>Publication information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the record</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the container was made</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c>
                  <a:txBody>
                    <a:bodyPr/>
                    <a:lstStyle/>
                    <a:p>
                      <a:pPr indent="0" marL="0">
                        <a:buNone/>
                      </a:pPr>
                      <a:r>
                        <a:rPr lang="en-US" sz="1500" dirty="0">
                          <a:solidFill>
                            <a:srgbClr val="22252E"/>
                          </a:solidFill>
                          <a:latin typeface="Calibri" pitchFamily="34" charset="0"/>
                          <a:ea typeface="Calibri" pitchFamily="34" charset="-122"/>
                          <a:cs typeface="Calibri" pitchFamily="34" charset="-120"/>
                        </a:rPr>
                        <a:t>Contribution</a:t>
                      </a:r>
                      <a:endParaRPr lang="en-US" sz="1500" dirty="0">
                        <a:latin typeface="Calibri" charset="0"/>
                        <a:ea typeface="Calibri" charset="0"/>
                        <a:cs typeface="Calibri" charset="0"/>
                      </a:endParaRPr>
                    </a:p>
                  </a:txBody>
                  <a:tcPr marL="73152" marR="73152" marT="73152" marB="7315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0F6"/>
                    </a:solidFill>
                  </a:tcPr>
                </a:tc>
              </a:tr>
            </a:tbl>
          </a:graphicData>
        </a:graphic>
      </p:graphicFrame>
      <p:sp>
        <p:nvSpPr>
          <p:cNvPr id="6" name="Text 2"/>
          <p:cNvSpPr txBox="1"/>
          <p:nvPr/>
        </p:nvSpPr>
        <p:spPr>
          <a:xfrm>
            <a:off x="822960" y="4069080"/>
            <a:ext cx="10561320" cy="457200"/>
          </a:xfrm>
          <a:prstGeom prst="rect">
            <a:avLst/>
          </a:prstGeom>
          <a:noFill/>
          <a:ln/>
        </p:spPr>
        <p:txBody>
          <a:bodyPr wrap="square" lIns="0" tIns="0" rIns="0" bIns="0" rtlCol="0" anchor="ctr"/>
          <a:lstStyle/>
          <a:p>
            <a:pPr algn="ctr" indent="0" marL="0">
              <a:buNone/>
            </a:pPr>
            <a:r>
              <a:rPr lang="en-US" sz="2000" i="1" dirty="0">
                <a:solidFill>
                  <a:srgbClr val="1B2A4E"/>
                </a:solidFill>
                <a:latin typeface="Cambria" pitchFamily="34" charset="0"/>
                <a:ea typeface="Cambria" pitchFamily="34" charset="-122"/>
                <a:cs typeface="Cambria" pitchFamily="34" charset="-120"/>
              </a:rPr>
              <a:t>One record separates the AI’s role in the work from its role in the metadata.</a:t>
            </a:r>
            <a:endParaRPr lang="en-US" sz="2000" dirty="0"/>
          </a:p>
        </p:txBody>
      </p:sp>
      <p:sp>
        <p:nvSpPr>
          <p:cNvPr id="7" name="Text 3"/>
          <p:cNvSpPr txBox="1"/>
          <p:nvPr/>
        </p:nvSpPr>
        <p:spPr>
          <a:xfrm>
            <a:off x="822960" y="4663440"/>
            <a:ext cx="10561320" cy="822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In four live records (28 September); system Claude (claude-opus-5-5); FAIA vocabulary 0.7.0. Values declared by the author, not machine-derived.</a:t>
            </a:r>
            <a:endParaRPr lang="en-US" sz="1400" dirty="0"/>
          </a:p>
          <a:p>
            <a:pPr marL="342900" indent="-342900">
              <a:spcAft>
                <a:spcPts val="500"/>
              </a:spcAft>
              <a:buSzPct val="100000"/>
              <a:buChar char="•"/>
            </a:pPr>
            <a:r>
              <a:rPr lang="en-US" sz="1400" dirty="0">
                <a:solidFill>
                  <a:srgbClr val="22252E"/>
                </a:solidFill>
                <a:latin typeface="Calibri" pitchFamily="34" charset="0"/>
                <a:ea typeface="Calibri" pitchFamily="34" charset="-122"/>
                <a:cs typeface="Calibri" pitchFamily="34" charset="-120"/>
              </a:rPr>
              <a:t>Placement is a proposal to the FAIA community; it enters the core at v0.2.</a:t>
            </a:r>
            <a:endParaRPr lang="en-US" sz="1400" dirty="0"/>
          </a:p>
        </p:txBody>
      </p:sp>
      <p:sp>
        <p:nvSpPr>
          <p:cNvPr id="8" name="Text 4"/>
          <p:cNvSpPr txBox="1"/>
          <p:nvPr/>
        </p:nvSpPr>
        <p:spPr>
          <a:xfrm>
            <a:off x="822960" y="5669280"/>
            <a:ext cx="10561320" cy="457200"/>
          </a:xfrm>
          <a:prstGeom prst="rect">
            <a:avLst/>
          </a:prstGeom>
          <a:noFill/>
          <a:ln/>
        </p:spPr>
        <p:txBody>
          <a:bodyPr wrap="square" lIns="0" tIns="0" rIns="0" bIns="0" rtlCol="0" anchor="t"/>
          <a:lstStyle/>
          <a:p>
            <a:pPr indent="0" marL="0">
              <a:buNone/>
            </a:pPr>
            <a:r>
              <a:rPr lang="en-US" sz="1100" dirty="0">
                <a:solidFill>
                  <a:srgbClr val="5A5F6E"/>
                </a:solidFill>
                <a:latin typeface="Calibri" pitchFamily="34" charset="0"/>
                <a:ea typeface="Calibri" pitchFamily="34" charset="-122"/>
                <a:cs typeface="Calibri" pitchFamily="34" charset="-120"/>
              </a:rPr>
              <a:t>FAIA: faia.liccium.com; terms reused at w3id.org/faia-framework. Provenance and publication-information statements verified by reading; the conformance checker covers the assertion graph only.</a:t>
            </a:r>
            <a:endParaRPr lang="en-US" sz="1100" dirty="0"/>
          </a:p>
        </p:txBody>
      </p:sp>
      <p:sp>
        <p:nvSpPr>
          <p:cNvPr id="9" name="Text 5"/>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Three environments, one signature</a:t>
            </a:r>
            <a:endParaRPr lang="en-US" sz="3000" dirty="0"/>
          </a:p>
        </p:txBody>
      </p:sp>
      <p:sp>
        <p:nvSpPr>
          <p:cNvPr id="4" name="Shape 1"/>
          <p:cNvSpPr/>
          <p:nvPr/>
        </p:nvSpPr>
        <p:spPr>
          <a:xfrm>
            <a:off x="822960" y="1325880"/>
            <a:ext cx="3063240" cy="3840480"/>
          </a:xfrm>
          <a:prstGeom prst="rect">
            <a:avLst/>
          </a:prstGeom>
          <a:solidFill>
            <a:srgbClr val="EEF0F6"/>
          </a:solidFill>
          <a:ln w="12700">
            <a:solidFill>
              <a:srgbClr val="EEF0F6"/>
            </a:solidFill>
            <a:prstDash val="solid"/>
          </a:ln>
        </p:spPr>
      </p:sp>
      <p:sp>
        <p:nvSpPr>
          <p:cNvPr id="5" name="Text 2"/>
          <p:cNvSpPr txBox="1"/>
          <p:nvPr/>
        </p:nvSpPr>
        <p:spPr>
          <a:xfrm>
            <a:off x="1051560" y="1508760"/>
            <a:ext cx="2606040" cy="411480"/>
          </a:xfrm>
          <a:prstGeom prst="rect">
            <a:avLst/>
          </a:prstGeom>
          <a:noFill/>
          <a:ln/>
        </p:spPr>
        <p:txBody>
          <a:bodyPr wrap="square" lIns="0" tIns="0" rIns="0" bIns="0" rtlCol="0" anchor="ctr"/>
          <a:lstStyle/>
          <a:p>
            <a:pPr indent="0" marL="0">
              <a:buNone/>
            </a:pPr>
            <a:r>
              <a:rPr lang="en-US" sz="1900" b="1" dirty="0">
                <a:solidFill>
                  <a:srgbClr val="1B2A4E"/>
                </a:solidFill>
                <a:latin typeface="Cambria" pitchFamily="34" charset="0"/>
                <a:ea typeface="Cambria" pitchFamily="34" charset="-122"/>
                <a:cs typeface="Cambria" pitchFamily="34" charset="-120"/>
              </a:rPr>
              <a:t>Chat assistant</a:t>
            </a:r>
            <a:endParaRPr lang="en-US" sz="1900" dirty="0"/>
          </a:p>
        </p:txBody>
      </p:sp>
      <p:sp>
        <p:nvSpPr>
          <p:cNvPr id="6" name="Text 3"/>
          <p:cNvSpPr txBox="1"/>
          <p:nvPr/>
        </p:nvSpPr>
        <p:spPr>
          <a:xfrm>
            <a:off x="1051560" y="1901952"/>
            <a:ext cx="2606040" cy="274320"/>
          </a:xfrm>
          <a:prstGeom prst="rect">
            <a:avLst/>
          </a:prstGeom>
          <a:noFill/>
          <a:ln/>
        </p:spPr>
        <p:txBody>
          <a:bodyPr wrap="square" lIns="0" tIns="0" rIns="0" bIns="0" rtlCol="0" anchor="ctr"/>
          <a:lstStyle/>
          <a:p>
            <a:pPr indent="0" marL="0">
              <a:buNone/>
            </a:pPr>
            <a:r>
              <a:rPr lang="en-US" sz="1300" i="1" dirty="0">
                <a:solidFill>
                  <a:srgbClr val="5A5F6E"/>
                </a:solidFill>
                <a:latin typeface="Calibri" pitchFamily="34" charset="0"/>
                <a:ea typeface="Calibri" pitchFamily="34" charset="-122"/>
                <a:cs typeface="Calibri" pitchFamily="34" charset="-120"/>
              </a:rPr>
              <a:t>conversational, skill uploaded</a:t>
            </a:r>
            <a:endParaRPr lang="en-US" sz="1300" dirty="0"/>
          </a:p>
        </p:txBody>
      </p:sp>
      <p:sp>
        <p:nvSpPr>
          <p:cNvPr id="7" name="Text 4"/>
          <p:cNvSpPr txBox="1"/>
          <p:nvPr/>
        </p:nvSpPr>
        <p:spPr>
          <a:xfrm>
            <a:off x="1051560" y="233172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8" name="Text 5"/>
          <p:cNvSpPr txBox="1"/>
          <p:nvPr/>
        </p:nvSpPr>
        <p:spPr>
          <a:xfrm>
            <a:off x="1051560" y="2606040"/>
            <a:ext cx="2606040" cy="86868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Drafts and checks the record from a request</a:t>
            </a:r>
            <a:endParaRPr lang="en-US" sz="1400" dirty="0"/>
          </a:p>
        </p:txBody>
      </p:sp>
      <p:sp>
        <p:nvSpPr>
          <p:cNvPr id="9" name="Text 6"/>
          <p:cNvSpPr txBox="1"/>
          <p:nvPr/>
        </p:nvSpPr>
        <p:spPr>
          <a:xfrm>
            <a:off x="1051560" y="352044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10" name="Text 7"/>
          <p:cNvSpPr txBox="1"/>
          <p:nvPr/>
        </p:nvSpPr>
        <p:spPr>
          <a:xfrm>
            <a:off x="1051560" y="3794760"/>
            <a:ext cx="2606040" cy="77724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The human signs locally, afterwards: the private key never goes to a remote sandbox</a:t>
            </a:r>
            <a:endParaRPr lang="en-US" sz="1400" dirty="0"/>
          </a:p>
        </p:txBody>
      </p:sp>
      <p:sp>
        <p:nvSpPr>
          <p:cNvPr id="11" name="Shape 8"/>
          <p:cNvSpPr/>
          <p:nvPr/>
        </p:nvSpPr>
        <p:spPr>
          <a:xfrm>
            <a:off x="1051560" y="4663440"/>
            <a:ext cx="2606040" cy="329184"/>
          </a:xfrm>
          <a:prstGeom prst="roundRect">
            <a:avLst>
              <a:gd name="adj" fmla="val 22222"/>
            </a:avLst>
          </a:prstGeom>
          <a:solidFill>
            <a:srgbClr val="FFFFFF"/>
          </a:solidFill>
          <a:ln w="15875">
            <a:solidFill>
              <a:srgbClr val="5A5F6E"/>
            </a:solidFill>
            <a:prstDash val="solid"/>
          </a:ln>
        </p:spPr>
      </p:sp>
      <p:sp>
        <p:nvSpPr>
          <p:cNvPr id="12" name="Text 9"/>
          <p:cNvSpPr txBox="1"/>
          <p:nvPr/>
        </p:nvSpPr>
        <p:spPr>
          <a:xfrm>
            <a:off x="1051560" y="4663440"/>
            <a:ext cx="2606040" cy="329184"/>
          </a:xfrm>
          <a:prstGeom prst="rect">
            <a:avLst/>
          </a:prstGeom>
          <a:noFill/>
          <a:ln/>
        </p:spPr>
        <p:txBody>
          <a:bodyPr wrap="square" lIns="0" tIns="0" rIns="0" bIns="0" rtlCol="0" anchor="ctr"/>
          <a:lstStyle/>
          <a:p>
            <a:pPr algn="ctr" indent="0" marL="0">
              <a:buNone/>
            </a:pPr>
            <a:r>
              <a:rPr lang="en-US" sz="1200" b="1" dirty="0">
                <a:solidFill>
                  <a:srgbClr val="5A5F6E"/>
                </a:solidFill>
                <a:latin typeface="Calibri" pitchFamily="34" charset="0"/>
                <a:ea typeface="Calibri" pitchFamily="34" charset="-122"/>
                <a:cs typeface="Calibri" pitchFamily="34" charset="-120"/>
              </a:rPr>
              <a:t>Not yet tested</a:t>
            </a:r>
            <a:endParaRPr lang="en-US" sz="1200" dirty="0"/>
          </a:p>
        </p:txBody>
      </p:sp>
      <p:sp>
        <p:nvSpPr>
          <p:cNvPr id="13" name="Shape 10"/>
          <p:cNvSpPr/>
          <p:nvPr/>
        </p:nvSpPr>
        <p:spPr>
          <a:xfrm>
            <a:off x="4562856" y="1325880"/>
            <a:ext cx="3063240" cy="3840480"/>
          </a:xfrm>
          <a:prstGeom prst="rect">
            <a:avLst/>
          </a:prstGeom>
          <a:solidFill>
            <a:srgbClr val="EEF0F6"/>
          </a:solidFill>
          <a:ln w="12700">
            <a:solidFill>
              <a:srgbClr val="EEF0F6"/>
            </a:solidFill>
            <a:prstDash val="solid"/>
          </a:ln>
        </p:spPr>
      </p:sp>
      <p:sp>
        <p:nvSpPr>
          <p:cNvPr id="14" name="Text 11"/>
          <p:cNvSpPr txBox="1"/>
          <p:nvPr/>
        </p:nvSpPr>
        <p:spPr>
          <a:xfrm>
            <a:off x="4791456" y="1508760"/>
            <a:ext cx="2606040" cy="411480"/>
          </a:xfrm>
          <a:prstGeom prst="rect">
            <a:avLst/>
          </a:prstGeom>
          <a:noFill/>
          <a:ln/>
        </p:spPr>
        <p:txBody>
          <a:bodyPr wrap="square" lIns="0" tIns="0" rIns="0" bIns="0" rtlCol="0" anchor="ctr"/>
          <a:lstStyle/>
          <a:p>
            <a:pPr indent="0" marL="0">
              <a:buNone/>
            </a:pPr>
            <a:r>
              <a:rPr lang="en-US" sz="1900" b="1" dirty="0">
                <a:solidFill>
                  <a:srgbClr val="1B2A4E"/>
                </a:solidFill>
                <a:latin typeface="Cambria" pitchFamily="34" charset="0"/>
                <a:ea typeface="Cambria" pitchFamily="34" charset="-122"/>
                <a:cs typeface="Cambria" pitchFamily="34" charset="-120"/>
              </a:rPr>
              <a:t>Local coding agent</a:t>
            </a:r>
            <a:endParaRPr lang="en-US" sz="1900" dirty="0"/>
          </a:p>
        </p:txBody>
      </p:sp>
      <p:sp>
        <p:nvSpPr>
          <p:cNvPr id="15" name="Text 12"/>
          <p:cNvSpPr txBox="1"/>
          <p:nvPr/>
        </p:nvSpPr>
        <p:spPr>
          <a:xfrm>
            <a:off x="4791456" y="1901952"/>
            <a:ext cx="2606040" cy="274320"/>
          </a:xfrm>
          <a:prstGeom prst="rect">
            <a:avLst/>
          </a:prstGeom>
          <a:noFill/>
          <a:ln/>
        </p:spPr>
        <p:txBody>
          <a:bodyPr wrap="square" lIns="0" tIns="0" rIns="0" bIns="0" rtlCol="0" anchor="ctr"/>
          <a:lstStyle/>
          <a:p>
            <a:pPr indent="0" marL="0">
              <a:buNone/>
            </a:pPr>
            <a:r>
              <a:rPr lang="en-US" sz="1300" i="1" dirty="0">
                <a:solidFill>
                  <a:srgbClr val="5A5F6E"/>
                </a:solidFill>
                <a:latin typeface="Calibri" pitchFamily="34" charset="0"/>
                <a:ea typeface="Calibri" pitchFamily="34" charset="-122"/>
                <a:cs typeface="Calibri" pitchFamily="34" charset="-120"/>
              </a:rPr>
              <a:t>terminal</a:t>
            </a:r>
            <a:endParaRPr lang="en-US" sz="1300" dirty="0"/>
          </a:p>
        </p:txBody>
      </p:sp>
      <p:sp>
        <p:nvSpPr>
          <p:cNvPr id="16" name="Text 13"/>
          <p:cNvSpPr txBox="1"/>
          <p:nvPr/>
        </p:nvSpPr>
        <p:spPr>
          <a:xfrm>
            <a:off x="4791456" y="233172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17" name="Text 14"/>
          <p:cNvSpPr txBox="1"/>
          <p:nvPr/>
        </p:nvSpPr>
        <p:spPr>
          <a:xfrm>
            <a:off x="4791456" y="2606040"/>
            <a:ext cx="2606040" cy="86868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Drafts, checks and signs with the human’s local key; stops at a signed, verified file</a:t>
            </a:r>
            <a:endParaRPr lang="en-US" sz="1400" dirty="0"/>
          </a:p>
        </p:txBody>
      </p:sp>
      <p:sp>
        <p:nvSpPr>
          <p:cNvPr id="18" name="Text 15"/>
          <p:cNvSpPr txBox="1"/>
          <p:nvPr/>
        </p:nvSpPr>
        <p:spPr>
          <a:xfrm>
            <a:off x="4791456" y="352044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19" name="Text 16"/>
          <p:cNvSpPr txBox="1"/>
          <p:nvPr/>
        </p:nvSpPr>
        <p:spPr>
          <a:xfrm>
            <a:off x="4791456" y="3794760"/>
            <a:ext cx="2606040" cy="77724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Publication is a separate, human-run, gated step</a:t>
            </a:r>
            <a:endParaRPr lang="en-US" sz="1400" dirty="0"/>
          </a:p>
        </p:txBody>
      </p:sp>
      <p:sp>
        <p:nvSpPr>
          <p:cNvPr id="20" name="Shape 17"/>
          <p:cNvSpPr/>
          <p:nvPr/>
        </p:nvSpPr>
        <p:spPr>
          <a:xfrm>
            <a:off x="4791456" y="4663440"/>
            <a:ext cx="2606040" cy="329184"/>
          </a:xfrm>
          <a:prstGeom prst="roundRect">
            <a:avLst>
              <a:gd name="adj" fmla="val 22222"/>
            </a:avLst>
          </a:prstGeom>
          <a:solidFill>
            <a:srgbClr val="FFFFFF"/>
          </a:solidFill>
          <a:ln w="15875">
            <a:solidFill>
              <a:srgbClr val="525C8D"/>
            </a:solidFill>
            <a:prstDash val="solid"/>
          </a:ln>
        </p:spPr>
      </p:sp>
      <p:sp>
        <p:nvSpPr>
          <p:cNvPr id="21" name="Text 18"/>
          <p:cNvSpPr txBox="1"/>
          <p:nvPr/>
        </p:nvSpPr>
        <p:spPr>
          <a:xfrm>
            <a:off x="4791456" y="4663440"/>
            <a:ext cx="2606040" cy="329184"/>
          </a:xfrm>
          <a:prstGeom prst="rect">
            <a:avLst/>
          </a:prstGeom>
          <a:noFill/>
          <a:ln/>
        </p:spPr>
        <p:txBody>
          <a:bodyPr wrap="square" lIns="0" tIns="0" rIns="0" bIns="0" rtlCol="0" anchor="ctr"/>
          <a:lstStyle/>
          <a:p>
            <a:pPr algn="ctr" indent="0" marL="0">
              <a:buNone/>
            </a:pPr>
            <a:r>
              <a:rPr lang="en-US" sz="1200" b="1" dirty="0">
                <a:solidFill>
                  <a:srgbClr val="525C8D"/>
                </a:solidFill>
                <a:latin typeface="Calibri" pitchFamily="34" charset="0"/>
                <a:ea typeface="Calibri" pitchFamily="34" charset="-122"/>
                <a:cs typeface="Calibri" pitchFamily="34" charset="-120"/>
              </a:rPr>
              <a:t>Used in the acceptance test</a:t>
            </a:r>
            <a:endParaRPr lang="en-US" sz="1200" dirty="0"/>
          </a:p>
        </p:txBody>
      </p:sp>
      <p:sp>
        <p:nvSpPr>
          <p:cNvPr id="22" name="Shape 19"/>
          <p:cNvSpPr/>
          <p:nvPr/>
        </p:nvSpPr>
        <p:spPr>
          <a:xfrm>
            <a:off x="8302752" y="1325880"/>
            <a:ext cx="3063240" cy="3840480"/>
          </a:xfrm>
          <a:prstGeom prst="rect">
            <a:avLst/>
          </a:prstGeom>
          <a:solidFill>
            <a:srgbClr val="EEF0F6"/>
          </a:solidFill>
          <a:ln w="12700">
            <a:solidFill>
              <a:srgbClr val="EEF0F6"/>
            </a:solidFill>
            <a:prstDash val="solid"/>
          </a:ln>
        </p:spPr>
      </p:sp>
      <p:sp>
        <p:nvSpPr>
          <p:cNvPr id="23" name="Text 20"/>
          <p:cNvSpPr txBox="1"/>
          <p:nvPr/>
        </p:nvSpPr>
        <p:spPr>
          <a:xfrm>
            <a:off x="8531352" y="1508760"/>
            <a:ext cx="2606040" cy="411480"/>
          </a:xfrm>
          <a:prstGeom prst="rect">
            <a:avLst/>
          </a:prstGeom>
          <a:noFill/>
          <a:ln/>
        </p:spPr>
        <p:txBody>
          <a:bodyPr wrap="square" lIns="0" tIns="0" rIns="0" bIns="0" rtlCol="0" anchor="ctr"/>
          <a:lstStyle/>
          <a:p>
            <a:pPr indent="0" marL="0">
              <a:buNone/>
            </a:pPr>
            <a:r>
              <a:rPr lang="en-US" sz="1900" b="1" dirty="0">
                <a:solidFill>
                  <a:srgbClr val="1B2A4E"/>
                </a:solidFill>
                <a:latin typeface="Cambria" pitchFamily="34" charset="0"/>
                <a:ea typeface="Cambria" pitchFamily="34" charset="-122"/>
                <a:cs typeface="Cambria" pitchFamily="34" charset="-120"/>
              </a:rPr>
              <a:t>Desktop app</a:t>
            </a:r>
            <a:endParaRPr lang="en-US" sz="1900" dirty="0"/>
          </a:p>
        </p:txBody>
      </p:sp>
      <p:sp>
        <p:nvSpPr>
          <p:cNvPr id="24" name="Text 21"/>
          <p:cNvSpPr txBox="1"/>
          <p:nvPr/>
        </p:nvSpPr>
        <p:spPr>
          <a:xfrm>
            <a:off x="8531352" y="1901952"/>
            <a:ext cx="2606040" cy="274320"/>
          </a:xfrm>
          <a:prstGeom prst="rect">
            <a:avLst/>
          </a:prstGeom>
          <a:noFill/>
          <a:ln/>
        </p:spPr>
        <p:txBody>
          <a:bodyPr wrap="square" lIns="0" tIns="0" rIns="0" bIns="0" rtlCol="0" anchor="ctr"/>
          <a:lstStyle/>
          <a:p>
            <a:pPr indent="0" marL="0">
              <a:buNone/>
            </a:pPr>
            <a:r>
              <a:rPr lang="en-US" sz="1300" i="1" dirty="0">
                <a:solidFill>
                  <a:srgbClr val="5A5F6E"/>
                </a:solidFill>
                <a:latin typeface="Calibri" pitchFamily="34" charset="0"/>
                <a:ea typeface="Calibri" pitchFamily="34" charset="-122"/>
                <a:cs typeface="Calibri" pitchFamily="34" charset="-120"/>
              </a:rPr>
              <a:t>local signing service</a:t>
            </a:r>
            <a:endParaRPr lang="en-US" sz="1300" dirty="0"/>
          </a:p>
        </p:txBody>
      </p:sp>
      <p:sp>
        <p:nvSpPr>
          <p:cNvPr id="25" name="Text 22"/>
          <p:cNvSpPr txBox="1"/>
          <p:nvPr/>
        </p:nvSpPr>
        <p:spPr>
          <a:xfrm>
            <a:off x="8531352" y="233172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The AI</a:t>
            </a:r>
            <a:endParaRPr lang="en-US" sz="1200" dirty="0"/>
          </a:p>
        </p:txBody>
      </p:sp>
      <p:sp>
        <p:nvSpPr>
          <p:cNvPr id="26" name="Text 23"/>
          <p:cNvSpPr txBox="1"/>
          <p:nvPr/>
        </p:nvSpPr>
        <p:spPr>
          <a:xfrm>
            <a:off x="8531352" y="2606040"/>
            <a:ext cx="2606040" cy="86868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Drafts from a conversational request or a right-click</a:t>
            </a:r>
            <a:endParaRPr lang="en-US" sz="1400" dirty="0"/>
          </a:p>
        </p:txBody>
      </p:sp>
      <p:sp>
        <p:nvSpPr>
          <p:cNvPr id="27" name="Text 24"/>
          <p:cNvSpPr txBox="1"/>
          <p:nvPr/>
        </p:nvSpPr>
        <p:spPr>
          <a:xfrm>
            <a:off x="8531352" y="3520440"/>
            <a:ext cx="2606040" cy="274320"/>
          </a:xfrm>
          <a:prstGeom prst="rect">
            <a:avLst/>
          </a:prstGeom>
          <a:noFill/>
          <a:ln/>
        </p:spPr>
        <p:txBody>
          <a:bodyPr wrap="square" lIns="0" tIns="0" rIns="0" bIns="0" rtlCol="0" anchor="ctr"/>
          <a:lstStyle/>
          <a:p>
            <a:pPr indent="0" marL="0">
              <a:buNone/>
            </a:pPr>
            <a:r>
              <a:rPr lang="en-US" sz="1200" b="1" dirty="0">
                <a:solidFill>
                  <a:srgbClr val="8E1B0E"/>
                </a:solidFill>
                <a:latin typeface="Calibri" pitchFamily="34" charset="0"/>
                <a:ea typeface="Calibri" pitchFamily="34" charset="-122"/>
                <a:cs typeface="Calibri" pitchFamily="34" charset="-120"/>
              </a:rPr>
              <a:t>Human control</a:t>
            </a:r>
            <a:endParaRPr lang="en-US" sz="1200" dirty="0"/>
          </a:p>
        </p:txBody>
      </p:sp>
      <p:sp>
        <p:nvSpPr>
          <p:cNvPr id="28" name="Text 25"/>
          <p:cNvSpPr txBox="1"/>
          <p:nvPr/>
        </p:nvSpPr>
        <p:spPr>
          <a:xfrm>
            <a:off x="8531352" y="3794760"/>
            <a:ext cx="2606040" cy="777240"/>
          </a:xfrm>
          <a:prstGeom prst="rect">
            <a:avLst/>
          </a:prstGeom>
          <a:noFill/>
          <a:ln/>
        </p:spPr>
        <p:txBody>
          <a:bodyPr wrap="square" lIns="0" tIns="0" rIns="0" bIns="0" rtlCol="0" anchor="t"/>
          <a:lstStyle/>
          <a:p>
            <a:pPr indent="0" marL="0">
              <a:buNone/>
            </a:pPr>
            <a:r>
              <a:rPr lang="en-US" sz="1400" dirty="0">
                <a:solidFill>
                  <a:srgbClr val="22252E"/>
                </a:solidFill>
                <a:latin typeface="Calibri" pitchFamily="34" charset="0"/>
                <a:ea typeface="Calibri" pitchFamily="34" charset="-122"/>
                <a:cs typeface="Calibri" pitchFamily="34" charset="-120"/>
              </a:rPr>
              <a:t>The human confirms in a dialogue; the key stays on the machine</a:t>
            </a:r>
            <a:endParaRPr lang="en-US" sz="1400" dirty="0"/>
          </a:p>
        </p:txBody>
      </p:sp>
      <p:sp>
        <p:nvSpPr>
          <p:cNvPr id="29" name="Shape 26"/>
          <p:cNvSpPr/>
          <p:nvPr/>
        </p:nvSpPr>
        <p:spPr>
          <a:xfrm>
            <a:off x="8531352" y="4663440"/>
            <a:ext cx="2606040" cy="329184"/>
          </a:xfrm>
          <a:prstGeom prst="roundRect">
            <a:avLst>
              <a:gd name="adj" fmla="val 22222"/>
            </a:avLst>
          </a:prstGeom>
          <a:solidFill>
            <a:srgbClr val="FFFFFF"/>
          </a:solidFill>
          <a:ln w="15875">
            <a:solidFill>
              <a:srgbClr val="D97800"/>
            </a:solidFill>
            <a:prstDash val="solid"/>
          </a:ln>
        </p:spPr>
      </p:sp>
      <p:sp>
        <p:nvSpPr>
          <p:cNvPr id="30" name="Text 27"/>
          <p:cNvSpPr txBox="1"/>
          <p:nvPr/>
        </p:nvSpPr>
        <p:spPr>
          <a:xfrm>
            <a:off x="8531352" y="4663440"/>
            <a:ext cx="2606040" cy="329184"/>
          </a:xfrm>
          <a:prstGeom prst="rect">
            <a:avLst/>
          </a:prstGeom>
          <a:noFill/>
          <a:ln/>
        </p:spPr>
        <p:txBody>
          <a:bodyPr wrap="square" lIns="0" tIns="0" rIns="0" bIns="0" rtlCol="0" anchor="ctr"/>
          <a:lstStyle/>
          <a:p>
            <a:pPr algn="ctr" indent="0" marL="0">
              <a:buNone/>
            </a:pPr>
            <a:r>
              <a:rPr lang="en-US" sz="1200" b="1" dirty="0">
                <a:solidFill>
                  <a:srgbClr val="D97800"/>
                </a:solidFill>
                <a:latin typeface="Calibri" pitchFamily="34" charset="0"/>
                <a:ea typeface="Calibri" pitchFamily="34" charset="-122"/>
                <a:cs typeface="Calibri" pitchFamily="34" charset="-120"/>
              </a:rPr>
              <a:t>Designed, not built</a:t>
            </a:r>
            <a:endParaRPr lang="en-US" sz="1200" dirty="0"/>
          </a:p>
        </p:txBody>
      </p:sp>
      <p:sp>
        <p:nvSpPr>
          <p:cNvPr id="31" name="Text 28"/>
          <p:cNvSpPr txBox="1"/>
          <p:nvPr/>
        </p:nvSpPr>
        <p:spPr>
          <a:xfrm>
            <a:off x="548640" y="5440680"/>
            <a:ext cx="11091672" cy="502920"/>
          </a:xfrm>
          <a:prstGeom prst="rect">
            <a:avLst/>
          </a:prstGeom>
          <a:noFill/>
          <a:ln/>
        </p:spPr>
        <p:txBody>
          <a:bodyPr wrap="square" lIns="0" tIns="0" rIns="0" bIns="0" rtlCol="0" anchor="ctr"/>
          <a:lstStyle/>
          <a:p>
            <a:pPr algn="ctr" indent="0" marL="0">
              <a:buNone/>
            </a:pPr>
            <a:r>
              <a:rPr lang="en-US" sz="2000" i="1" dirty="0">
                <a:solidFill>
                  <a:srgbClr val="1B2A4E"/>
                </a:solidFill>
                <a:latin typeface="Cambria" pitchFamily="34" charset="0"/>
                <a:ea typeface="Cambria" pitchFamily="34" charset="-122"/>
                <a:cs typeface="Cambria" pitchFamily="34" charset="-120"/>
              </a:rPr>
              <a:t>The skill makes it easy; the signature, always with the human’s key, makes someone accountable.</a:t>
            </a:r>
            <a:endParaRPr lang="en-US" sz="2000" dirty="0"/>
          </a:p>
        </p:txBody>
      </p:sp>
      <p:sp>
        <p:nvSpPr>
          <p:cNvPr id="32" name="Text 29"/>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20040"/>
            <a:ext cx="11094415"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Where this stands</a:t>
            </a:r>
            <a:endParaRPr lang="en-US" sz="3000" dirty="0"/>
          </a:p>
        </p:txBody>
      </p:sp>
      <p:sp>
        <p:nvSpPr>
          <p:cNvPr id="4" name="Shape 1"/>
          <p:cNvSpPr/>
          <p:nvPr/>
        </p:nvSpPr>
        <p:spPr>
          <a:xfrm>
            <a:off x="822960" y="1325880"/>
            <a:ext cx="2468880" cy="1280160"/>
          </a:xfrm>
          <a:prstGeom prst="roundRect">
            <a:avLst>
              <a:gd name="adj" fmla="val 7143"/>
            </a:avLst>
          </a:prstGeom>
          <a:solidFill>
            <a:srgbClr val="525C8D"/>
          </a:solidFill>
          <a:ln w="12700">
            <a:solidFill>
              <a:srgbClr val="525C8D"/>
            </a:solidFill>
            <a:prstDash val="solid"/>
          </a:ln>
        </p:spPr>
      </p:sp>
      <p:sp>
        <p:nvSpPr>
          <p:cNvPr id="5" name="Text 2"/>
          <p:cNvSpPr txBox="1"/>
          <p:nvPr/>
        </p:nvSpPr>
        <p:spPr>
          <a:xfrm>
            <a:off x="822960" y="1325880"/>
            <a:ext cx="2468880"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Demonstrated</a:t>
            </a:r>
            <a:endParaRPr lang="en-US" sz="1600" dirty="0"/>
          </a:p>
        </p:txBody>
      </p:sp>
      <p:sp>
        <p:nvSpPr>
          <p:cNvPr id="6" name="Shape 3"/>
          <p:cNvSpPr/>
          <p:nvPr/>
        </p:nvSpPr>
        <p:spPr>
          <a:xfrm>
            <a:off x="3429000" y="1325880"/>
            <a:ext cx="7955280" cy="1280160"/>
          </a:xfrm>
          <a:prstGeom prst="rect">
            <a:avLst/>
          </a:prstGeom>
          <a:solidFill>
            <a:srgbClr val="EEF0F6"/>
          </a:solidFill>
          <a:ln w="12700">
            <a:solidFill>
              <a:srgbClr val="EEF0F6"/>
            </a:solidFill>
            <a:prstDash val="solid"/>
          </a:ln>
        </p:spPr>
      </p:sp>
      <p:sp>
        <p:nvSpPr>
          <p:cNvPr id="7" name="Text 4"/>
          <p:cNvSpPr txBox="1"/>
          <p:nvPr/>
        </p:nvSpPr>
        <p:spPr>
          <a:xfrm>
            <a:off x="3657600" y="1371600"/>
            <a:ext cx="7543800" cy="1188720"/>
          </a:xfrm>
          <a:prstGeom prst="rect">
            <a:avLst/>
          </a:prstGeom>
          <a:noFill/>
          <a:ln/>
        </p:spPr>
        <p:txBody>
          <a:bodyPr wrap="square" lIns="0" tIns="0" rIns="0" bIns="0" rtlCol="0" anchor="ctr"/>
          <a:lstStyle/>
          <a:p>
            <a:pPr indent="0" marL="0">
              <a:buNone/>
            </a:pPr>
            <a:r>
              <a:rPr lang="en-US" sz="1500" dirty="0">
                <a:solidFill>
                  <a:srgbClr val="22252E"/>
                </a:solidFill>
                <a:latin typeface="Calibri" pitchFamily="34" charset="0"/>
                <a:ea typeface="Calibri" pitchFamily="34" charset="-122"/>
                <a:cs typeface="Calibri" pitchFamily="34" charset="-120"/>
              </a:rPr>
              <a:t>Outputs as FDOs: the published corpus, and four records minted by an AI agent that declares its own involvement in all three graphs (FAIA). An input as an FDO: the agent started from the specification record and verified the bytes against its checksum before use.</a:t>
            </a:r>
            <a:endParaRPr lang="en-US" sz="1500" dirty="0"/>
          </a:p>
        </p:txBody>
      </p:sp>
      <p:sp>
        <p:nvSpPr>
          <p:cNvPr id="8" name="Shape 5"/>
          <p:cNvSpPr/>
          <p:nvPr/>
        </p:nvSpPr>
        <p:spPr>
          <a:xfrm>
            <a:off x="822960" y="2788920"/>
            <a:ext cx="2468880" cy="914400"/>
          </a:xfrm>
          <a:prstGeom prst="roundRect">
            <a:avLst>
              <a:gd name="adj" fmla="val 10000"/>
            </a:avLst>
          </a:prstGeom>
          <a:solidFill>
            <a:srgbClr val="D97800"/>
          </a:solidFill>
          <a:ln w="12700">
            <a:solidFill>
              <a:srgbClr val="D97800"/>
            </a:solidFill>
            <a:prstDash val="solid"/>
          </a:ln>
        </p:spPr>
      </p:sp>
      <p:sp>
        <p:nvSpPr>
          <p:cNvPr id="9" name="Text 6"/>
          <p:cNvSpPr txBox="1"/>
          <p:nvPr/>
        </p:nvSpPr>
        <p:spPr>
          <a:xfrm>
            <a:off x="822960" y="2788920"/>
            <a:ext cx="24688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Designed, not built</a:t>
            </a:r>
            <a:endParaRPr lang="en-US" sz="1600" dirty="0"/>
          </a:p>
        </p:txBody>
      </p:sp>
      <p:sp>
        <p:nvSpPr>
          <p:cNvPr id="10" name="Shape 7"/>
          <p:cNvSpPr/>
          <p:nvPr/>
        </p:nvSpPr>
        <p:spPr>
          <a:xfrm>
            <a:off x="3429000" y="2788920"/>
            <a:ext cx="7955280" cy="914400"/>
          </a:xfrm>
          <a:prstGeom prst="rect">
            <a:avLst/>
          </a:prstGeom>
          <a:solidFill>
            <a:srgbClr val="EEF0F6"/>
          </a:solidFill>
          <a:ln w="12700">
            <a:solidFill>
              <a:srgbClr val="EEF0F6"/>
            </a:solidFill>
            <a:prstDash val="solid"/>
          </a:ln>
        </p:spPr>
      </p:sp>
      <p:sp>
        <p:nvSpPr>
          <p:cNvPr id="11" name="Text 8"/>
          <p:cNvSpPr txBox="1"/>
          <p:nvPr/>
        </p:nvSpPr>
        <p:spPr>
          <a:xfrm>
            <a:off x="3657600" y="2834640"/>
            <a:ext cx="7543800" cy="822960"/>
          </a:xfrm>
          <a:prstGeom prst="rect">
            <a:avLst/>
          </a:prstGeom>
          <a:noFill/>
          <a:ln/>
        </p:spPr>
        <p:txBody>
          <a:bodyPr wrap="square" lIns="0" tIns="0" rIns="0" bIns="0" rtlCol="0" anchor="ctr"/>
          <a:lstStyle/>
          <a:p>
            <a:pPr indent="0" marL="0">
              <a:buNone/>
            </a:pPr>
            <a:r>
              <a:rPr lang="en-US" sz="1500" dirty="0">
                <a:solidFill>
                  <a:srgbClr val="22252E"/>
                </a:solidFill>
                <a:latin typeface="Calibri" pitchFamily="34" charset="0"/>
                <a:ea typeface="Calibri" pitchFamily="34" charset="-122"/>
                <a:cs typeface="Calibri" pitchFamily="34" charset="-120"/>
              </a:rPr>
              <a:t>FDO resolution as the standard input channel for agents (MCP endpoint). Desktop minting through a local signing service.</a:t>
            </a:r>
            <a:endParaRPr lang="en-US" sz="1500" dirty="0"/>
          </a:p>
        </p:txBody>
      </p:sp>
      <p:sp>
        <p:nvSpPr>
          <p:cNvPr id="12" name="Shape 9"/>
          <p:cNvSpPr/>
          <p:nvPr/>
        </p:nvSpPr>
        <p:spPr>
          <a:xfrm>
            <a:off x="822960" y="3931920"/>
            <a:ext cx="2468880" cy="777240"/>
          </a:xfrm>
          <a:prstGeom prst="roundRect">
            <a:avLst>
              <a:gd name="adj" fmla="val 11765"/>
            </a:avLst>
          </a:prstGeom>
          <a:solidFill>
            <a:srgbClr val="1B2A4E"/>
          </a:solidFill>
          <a:ln w="12700">
            <a:solidFill>
              <a:srgbClr val="1B2A4E"/>
            </a:solidFill>
            <a:prstDash val="solid"/>
          </a:ln>
        </p:spPr>
      </p:sp>
      <p:sp>
        <p:nvSpPr>
          <p:cNvPr id="13" name="Text 10"/>
          <p:cNvSpPr txBox="1"/>
          <p:nvPr/>
        </p:nvSpPr>
        <p:spPr>
          <a:xfrm>
            <a:off x="822960" y="3931920"/>
            <a:ext cx="246888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Goal, argued for</a:t>
            </a:r>
            <a:endParaRPr lang="en-US" sz="1600" dirty="0"/>
          </a:p>
        </p:txBody>
      </p:sp>
      <p:sp>
        <p:nvSpPr>
          <p:cNvPr id="14" name="Shape 11"/>
          <p:cNvSpPr/>
          <p:nvPr/>
        </p:nvSpPr>
        <p:spPr>
          <a:xfrm>
            <a:off x="3429000" y="3931920"/>
            <a:ext cx="7955280" cy="777240"/>
          </a:xfrm>
          <a:prstGeom prst="rect">
            <a:avLst/>
          </a:prstGeom>
          <a:solidFill>
            <a:srgbClr val="EEF0F6"/>
          </a:solidFill>
          <a:ln w="12700">
            <a:solidFill>
              <a:srgbClr val="EEF0F6"/>
            </a:solidFill>
            <a:prstDash val="solid"/>
          </a:ln>
        </p:spPr>
      </p:sp>
      <p:sp>
        <p:nvSpPr>
          <p:cNvPr id="15" name="Text 12"/>
          <p:cNvSpPr txBox="1"/>
          <p:nvPr/>
        </p:nvSpPr>
        <p:spPr>
          <a:xfrm>
            <a:off x="3657600" y="3977640"/>
            <a:ext cx="7543800" cy="685800"/>
          </a:xfrm>
          <a:prstGeom prst="rect">
            <a:avLst/>
          </a:prstGeom>
          <a:noFill/>
          <a:ln/>
        </p:spPr>
        <p:txBody>
          <a:bodyPr wrap="square" lIns="0" tIns="0" rIns="0" bIns="0" rtlCol="0" anchor="ctr"/>
          <a:lstStyle/>
          <a:p>
            <a:pPr indent="0" marL="0">
              <a:buNone/>
            </a:pPr>
            <a:r>
              <a:rPr lang="en-US" sz="1500" dirty="0">
                <a:solidFill>
                  <a:srgbClr val="22252E"/>
                </a:solidFill>
                <a:latin typeface="Calibri" pitchFamily="34" charset="0"/>
                <a:ea typeface="Calibri" pitchFamily="34" charset="-122"/>
                <a:cs typeface="Calibri" pitchFamily="34" charset="-120"/>
              </a:rPr>
              <a:t>FAIR Digital Objects as the accepted standard for the inputs and outputs of FAIR AI.</a:t>
            </a:r>
            <a:endParaRPr lang="en-US" sz="1500" dirty="0"/>
          </a:p>
        </p:txBody>
      </p:sp>
      <p:sp>
        <p:nvSpPr>
          <p:cNvPr id="16" name="Text 13"/>
          <p:cNvSpPr txBox="1"/>
          <p:nvPr/>
        </p:nvSpPr>
        <p:spPr>
          <a:xfrm>
            <a:off x="822960" y="4937760"/>
            <a:ext cx="10561320" cy="822960"/>
          </a:xfrm>
          <a:prstGeom prst="rect">
            <a:avLst/>
          </a:prstGeom>
          <a:noFill/>
          <a:ln/>
        </p:spPr>
        <p:txBody>
          <a:bodyPr wrap="square" lIns="0" tIns="0" rIns="0" bIns="0" rtlCol="0" anchor="ctr"/>
          <a:lstStyle/>
          <a:p>
            <a:pPr indent="0" marL="0">
              <a:buNone/>
            </a:pPr>
            <a:r>
              <a:rPr lang="en-US" sz="1500" b="1" dirty="0">
                <a:solidFill>
                  <a:srgbClr val="1B2A4E"/>
                </a:solidFill>
                <a:latin typeface="Calibri" pitchFamily="34" charset="0"/>
                <a:ea typeface="Calibri" pitchFamily="34" charset="-122"/>
                <a:cs typeface="Calibri" pitchFamily="34" charset="-120"/>
              </a:rPr>
              <a:t>Next: </a:t>
            </a:r>
            <a:pPr indent="0" marL="0">
              <a:buNone/>
            </a:pPr>
            <a:r>
              <a:rPr lang="en-US" sz="1500" dirty="0">
                <a:solidFill>
                  <a:srgbClr val="22252E"/>
                </a:solidFill>
                <a:latin typeface="Calibri" pitchFamily="34" charset="0"/>
                <a:ea typeface="Calibri" pitchFamily="34" charset="-122"/>
                <a:cs typeface="Calibri" pitchFamily="34" charset="-120"/>
              </a:rPr>
              <a:t>the skill alone (type slots shipped with the skill, v0.2) · a stricter test from a minimal request · FAIA placement with the FAIA community · a catalogue of object types · more skills · the MCP endpoint · desktop minting</a:t>
            </a:r>
            <a:endParaRPr lang="en-US" sz="1500" dirty="0"/>
          </a:p>
        </p:txBody>
      </p:sp>
      <p:sp>
        <p:nvSpPr>
          <p:cNvPr id="17" name="Text 14"/>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926080" y="-457200"/>
            <a:ext cx="4754880" cy="7772400"/>
          </a:xfrm>
          <a:prstGeom prst="ellipse">
            <a:avLst/>
          </a:prstGeom>
          <a:solidFill>
            <a:srgbClr val="525C8D"/>
          </a:solidFill>
          <a:ln w="12700">
            <a:solidFill>
              <a:srgbClr val="525C8D"/>
            </a:solidFill>
            <a:prstDash val="solid"/>
          </a:ln>
        </p:spPr>
      </p:sp>
      <p:sp>
        <p:nvSpPr>
          <p:cNvPr id="4" name="Text 1"/>
          <p:cNvSpPr txBox="1"/>
          <p:nvPr/>
        </p:nvSpPr>
        <p:spPr>
          <a:xfrm>
            <a:off x="2194560" y="320040"/>
            <a:ext cx="9418320" cy="731520"/>
          </a:xfrm>
          <a:prstGeom prst="rect">
            <a:avLst/>
          </a:prstGeom>
          <a:noFill/>
          <a:ln/>
        </p:spPr>
        <p:txBody>
          <a:bodyPr wrap="square" lIns="0" tIns="0" rIns="0" bIns="0" rtlCol="0" anchor="ctr"/>
          <a:lstStyle/>
          <a:p>
            <a:pPr algn="ctr" indent="0" marL="0">
              <a:buNone/>
            </a:pPr>
            <a:r>
              <a:rPr lang="en-US" sz="3000" dirty="0">
                <a:solidFill>
                  <a:srgbClr val="1B2A4E"/>
                </a:solidFill>
                <a:latin typeface="Cambria" pitchFamily="34" charset="0"/>
                <a:ea typeface="Cambria" pitchFamily="34" charset="-122"/>
                <a:cs typeface="Cambria" pitchFamily="34" charset="-120"/>
              </a:rPr>
              <a:t>An invitation: a free, open skill library</a:t>
            </a:r>
            <a:endParaRPr lang="en-US" sz="3000" dirty="0"/>
          </a:p>
        </p:txBody>
      </p:sp>
      <p:sp>
        <p:nvSpPr>
          <p:cNvPr id="5" name="Text 2"/>
          <p:cNvSpPr txBox="1"/>
          <p:nvPr/>
        </p:nvSpPr>
        <p:spPr>
          <a:xfrm>
            <a:off x="2468880" y="1280160"/>
            <a:ext cx="5943600" cy="3429000"/>
          </a:xfrm>
          <a:prstGeom prst="rect">
            <a:avLst/>
          </a:prstGeom>
          <a:noFill/>
          <a:ln/>
        </p:spPr>
        <p:txBody>
          <a:bodyPr wrap="square" lIns="0" tIns="0" rIns="0" bIns="0" rtlCol="0" anchor="t"/>
          <a:lstStyle/>
          <a:p>
            <a:pPr indent="0" marL="0">
              <a:spcAft>
                <a:spcPts val="300"/>
              </a:spcAft>
              <a:buNone/>
            </a:pPr>
            <a:r>
              <a:rPr lang="en-US" sz="1500" b="1" dirty="0">
                <a:solidFill>
                  <a:srgbClr val="1B2A4E"/>
                </a:solidFill>
                <a:latin typeface="Calibri" pitchFamily="34" charset="0"/>
                <a:ea typeface="Calibri" pitchFamily="34" charset="-122"/>
                <a:cs typeface="Calibri" pitchFamily="34" charset="-120"/>
              </a:rPr>
              <a:t>The first skill: npfdo-mint v0.1.0</a:t>
            </a:r>
            <a:endParaRPr lang="en-US" sz="1500" dirty="0"/>
          </a:p>
          <a:p>
            <a:pPr indent="0" marL="0">
              <a:spcAft>
                <a:spcPts val="300"/>
              </a:spcAft>
              <a:buNone/>
            </a:pPr>
            <a:r>
              <a:rPr lang="en-US" sz="1500" dirty="0">
                <a:solidFill>
                  <a:srgbClr val="22252E"/>
                </a:solidFill>
                <a:latin typeface="Calibri" pitchFamily="34" charset="0"/>
                <a:ea typeface="Calibri" pitchFamily="34" charset="-122"/>
                <a:cs typeface="Calibri" pitchFamily="34" charset="-120"/>
              </a:rPr>
              <a:t>Makes an AI agent’s outputs FDOs: typed, licensed, attributed, signed, checksummed, resolvable. Code Apache 2.0; documents CC BY 4.0.</a:t>
            </a:r>
            <a:endParaRPr lang="en-US" sz="15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spcAft>
                <a:spcPts val="300"/>
              </a:spcAft>
              <a:buNone/>
            </a:pPr>
            <a:r>
              <a:rPr lang="en-US" sz="1500" b="1" dirty="0">
                <a:solidFill>
                  <a:srgbClr val="1B2A4E"/>
                </a:solidFill>
                <a:latin typeface="Calibri" pitchFamily="34" charset="0"/>
                <a:ea typeface="Calibri" pitchFamily="34" charset="-122"/>
                <a:cs typeface="Calibri" pitchFamily="34" charset="-120"/>
              </a:rPr>
              <a:t>The skill is itself an FDO</a:t>
            </a:r>
            <a:endParaRPr lang="en-US" sz="1500" dirty="0"/>
          </a:p>
          <a:p>
            <a:pPr indent="0" marL="0">
              <a:spcAft>
                <a:spcPts val="300"/>
              </a:spcAft>
              <a:buNone/>
            </a:pPr>
            <a:r>
              <a:rPr lang="en-US" sz="1200" dirty="0">
                <a:solidFill>
                  <a:srgbClr val="22252E"/>
                </a:solidFill>
                <a:latin typeface="Courier New" pitchFamily="34" charset="0"/>
                <a:ea typeface="Courier New" pitchFamily="34" charset="-122"/>
                <a:cs typeface="Courier New" pitchFamily="34" charset="-120"/>
              </a:rPr>
              <a:t>w3id.org/np/RACO5VQyaDSUgzTuGmgdUTh6lklXKBMYo6rnPuxadRZUI</a:t>
            </a:r>
            <a:endParaRPr lang="en-US" sz="15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spcAft>
                <a:spcPts val="300"/>
              </a:spcAft>
              <a:buNone/>
            </a:pPr>
            <a:r>
              <a:rPr lang="en-US" sz="1500" b="1" dirty="0">
                <a:solidFill>
                  <a:srgbClr val="1B2A4E"/>
                </a:solidFill>
                <a:latin typeface="Calibri" pitchFamily="34" charset="0"/>
                <a:ea typeface="Calibri" pitchFamily="34" charset="-122"/>
                <a:cs typeface="Calibri" pitchFamily="34" charset="-120"/>
              </a:rPr>
              <a:t>Wanted</a:t>
            </a:r>
            <a:endParaRPr lang="en-US" sz="1500" dirty="0"/>
          </a:p>
          <a:p>
            <a:pPr indent="0" marL="0">
              <a:spcAft>
                <a:spcPts val="300"/>
              </a:spcAft>
              <a:buNone/>
            </a:pPr>
            <a:r>
              <a:rPr lang="en-US" sz="1500" dirty="0">
                <a:solidFill>
                  <a:srgbClr val="22252E"/>
                </a:solidFill>
                <a:latin typeface="Calibri" pitchFamily="34" charset="0"/>
                <a:ea typeface="Calibri" pitchFamily="34" charset="-122"/>
                <a:cs typeface="Calibri" pitchFamily="34" charset="-120"/>
              </a:rPr>
              <a:t>Skills for other object types, carriers and agents; types for your own objects; critical review of the core; a view on where AI attribution belongs.</a:t>
            </a:r>
            <a:endParaRPr lang="en-US" sz="1500" dirty="0"/>
          </a:p>
        </p:txBody>
      </p:sp>
      <p:sp>
        <p:nvSpPr>
          <p:cNvPr id="6" name="Text 3"/>
          <p:cNvSpPr txBox="1"/>
          <p:nvPr/>
        </p:nvSpPr>
        <p:spPr>
          <a:xfrm>
            <a:off x="2468880" y="4754880"/>
            <a:ext cx="5943600" cy="640080"/>
          </a:xfrm>
          <a:prstGeom prst="rect">
            <a:avLst/>
          </a:prstGeom>
          <a:noFill/>
          <a:ln/>
        </p:spPr>
        <p:txBody>
          <a:bodyPr wrap="square" lIns="0" tIns="0" rIns="0" bIns="0" rtlCol="0" anchor="t"/>
          <a:lstStyle/>
          <a:p>
            <a:pPr indent="0" marL="0">
              <a:spcAft>
                <a:spcPts val="400"/>
              </a:spcAft>
              <a:buNone/>
            </a:pPr>
            <a:r>
              <a:rPr lang="en-US" sz="1400" dirty="0">
                <a:solidFill>
                  <a:srgbClr val="8E1B0E"/>
                </a:solidFill>
                <a:latin typeface="Courier New" pitchFamily="34" charset="0"/>
                <a:ea typeface="Courier New" pitchFamily="34" charset="-122"/>
                <a:cs typeface="Courier New" pitchFamily="34" charset="-120"/>
              </a:rPr>
              <a:t>github.com/easchultes/npfdo-skills</a:t>
            </a:r>
            <a:endParaRPr lang="en-US" sz="1400" dirty="0"/>
          </a:p>
          <a:p>
            <a:pPr indent="0" marL="0">
              <a:spcAft>
                <a:spcPts val="400"/>
              </a:spcAft>
              <a:buNone/>
            </a:pPr>
            <a:r>
              <a:rPr lang="en-US" sz="1400" dirty="0">
                <a:solidFill>
                  <a:srgbClr val="8E1B0E"/>
                </a:solidFill>
                <a:latin typeface="Courier New" pitchFamily="34" charset="0"/>
                <a:ea typeface="Courier New" pitchFamily="34" charset="-122"/>
                <a:cs typeface="Courier New" pitchFamily="34" charset="-120"/>
              </a:rPr>
              <a:t>github.com/easchultes/npfdo-core</a:t>
            </a:r>
            <a:endParaRPr lang="en-US" sz="1400" dirty="0"/>
          </a:p>
        </p:txBody>
      </p:sp>
      <p:pic>
        <p:nvPicPr>
          <p:cNvPr id="7" name="Image 0" descr="QR code to github.com/easchultes/npfdo-skills">    </p:cNvPr>
          <p:cNvPicPr>
            <a:picLocks noChangeAspect="1"/>
          </p:cNvPicPr>
          <p:nvPr/>
        </p:nvPicPr>
        <p:blipFill>
          <a:blip r:embed="rId1"/>
          <a:stretch>
            <a:fillRect/>
          </a:stretch>
        </p:blipFill>
        <p:spPr>
          <a:xfrm>
            <a:off x="8915400" y="1371600"/>
            <a:ext cx="2377440" cy="2377440"/>
          </a:xfrm>
          <a:prstGeom prst="rect">
            <a:avLst/>
          </a:prstGeom>
        </p:spPr>
      </p:pic>
      <p:sp>
        <p:nvSpPr>
          <p:cNvPr id="8" name="Text 4"/>
          <p:cNvSpPr txBox="1"/>
          <p:nvPr/>
        </p:nvSpPr>
        <p:spPr>
          <a:xfrm>
            <a:off x="8915400" y="3794760"/>
            <a:ext cx="2377440" cy="274320"/>
          </a:xfrm>
          <a:prstGeom prst="rect">
            <a:avLst/>
          </a:prstGeom>
          <a:noFill/>
          <a:ln/>
        </p:spPr>
        <p:txBody>
          <a:bodyPr wrap="square" lIns="0" tIns="0" rIns="0" bIns="0" rtlCol="0" anchor="ctr"/>
          <a:lstStyle/>
          <a:p>
            <a:pPr algn="ctr" indent="0" marL="0">
              <a:buNone/>
            </a:pPr>
            <a:r>
              <a:rPr lang="en-US" sz="1200" dirty="0">
                <a:solidFill>
                  <a:srgbClr val="5A5F6E"/>
                </a:solidFill>
                <a:latin typeface="Calibri" pitchFamily="34" charset="0"/>
                <a:ea typeface="Calibri" pitchFamily="34" charset="-122"/>
                <a:cs typeface="Calibri" pitchFamily="34" charset="-120"/>
              </a:rPr>
              <a:t>npfdo-skills</a:t>
            </a:r>
            <a:endParaRPr lang="en-US" sz="1200" dirty="0"/>
          </a:p>
        </p:txBody>
      </p:sp>
      <p:sp>
        <p:nvSpPr>
          <p:cNvPr id="9" name="Text 5"/>
          <p:cNvSpPr txBox="1"/>
          <p:nvPr/>
        </p:nvSpPr>
        <p:spPr>
          <a:xfrm>
            <a:off x="2194560" y="5577840"/>
            <a:ext cx="9418320" cy="457200"/>
          </a:xfrm>
          <a:prstGeom prst="rect">
            <a:avLst/>
          </a:prstGeom>
          <a:noFill/>
          <a:ln/>
        </p:spPr>
        <p:txBody>
          <a:bodyPr wrap="square" lIns="0" tIns="0" rIns="0" bIns="0" rtlCol="0" anchor="ctr"/>
          <a:lstStyle/>
          <a:p>
            <a:pPr algn="ctr" indent="0" marL="0">
              <a:buNone/>
            </a:pPr>
            <a:r>
              <a:rPr lang="en-US" sz="2000" i="1" dirty="0">
                <a:solidFill>
                  <a:srgbClr val="1B2A4E"/>
                </a:solidFill>
                <a:latin typeface="Cambria" pitchFamily="34" charset="0"/>
                <a:ea typeface="Cambria" pitchFamily="34" charset="-122"/>
                <a:cs typeface="Cambria" pitchFamily="34" charset="-120"/>
              </a:rPr>
              <a:t>In FAIR AI, the only inputs are FDOs and all outputs are FDOs.</a:t>
            </a:r>
            <a:endParaRPr lang="en-US" sz="2000" dirty="0"/>
          </a:p>
        </p:txBody>
      </p:sp>
      <p:sp>
        <p:nvSpPr>
          <p:cNvPr id="10" name="Text 6"/>
          <p:cNvSpPr txBox="1"/>
          <p:nvPr/>
        </p:nvSpPr>
        <p:spPr>
          <a:xfrm>
            <a:off x="5760720" y="6419088"/>
            <a:ext cx="5897880" cy="274320"/>
          </a:xfrm>
          <a:prstGeom prst="rect">
            <a:avLst/>
          </a:prstGeom>
          <a:noFill/>
          <a:ln/>
        </p:spPr>
        <p:txBody>
          <a:bodyPr wrap="square" lIns="0" tIns="0" rIns="0" bIns="0" rtlCol="0" anchor="ctr"/>
          <a:lstStyle/>
          <a:p>
            <a:pPr algn="r" indent="0" marL="0">
              <a:buNone/>
            </a:pPr>
            <a:r>
              <a:rPr lang="en-US" sz="1000" dirty="0">
                <a:solidFill>
                  <a:srgbClr val="5A5F6E"/>
                </a:solidFill>
                <a:latin typeface="Calibri" pitchFamily="34" charset="0"/>
                <a:ea typeface="Calibri" pitchFamily="34" charset="-122"/>
                <a:cs typeface="Calibri" pitchFamily="34" charset="-120"/>
              </a:rPr>
              <a:t>FAIR-Ready AI  ·  Fraunhofer SCAI, Bonn  ·  29 September 2026</a:t>
            </a:r>
            <a:pPr algn="r" indent="0" marL="0">
              <a:buNone/>
            </a:pPr>
            <a:r>
              <a:rPr lang="en-US" sz="1000" b="1" dirty="0">
                <a:solidFill>
                  <a:srgbClr val="1B2A4E"/>
                </a:solidFill>
                <a:latin typeface="Calibri" pitchFamily="34" charset="0"/>
                <a:ea typeface="Calibri" pitchFamily="34" charset="-122"/>
                <a:cs typeface="Calibri" pitchFamily="34" charset="-120"/>
              </a:rPr>
              <a:t>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Leiden University (LACDR); GO FAIR Foundation; partners in FAIR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FAIR-Ready AI</dc:title>
  <dc:subject>Industry Symposium 'AI in Life Sciences and Medicine', Fraunhofer SCAI, Bonn, 29 September 2026</dc:subject>
  <dc:creator>Erik Schultes</dc:creator>
  <cp:lastModifiedBy>Erik Schultes</cp:lastModifiedBy>
  <cp:revision>1</cp:revision>
  <dcterms:created xsi:type="dcterms:W3CDTF">2026-09-28T08:24:00Z</dcterms:created>
  <dcterms:modified xsi:type="dcterms:W3CDTF">2026-09-28T08:24:00Z</dcterms:modified>
</cp:coreProperties>
</file>